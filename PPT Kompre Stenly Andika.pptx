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97" r:id="rId7"/>
    <p:sldId id="298" r:id="rId8"/>
    <p:sldId id="299" r:id="rId9"/>
    <p:sldId id="300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C05"/>
    <a:srgbClr val="6B705C"/>
    <a:srgbClr val="744C16"/>
    <a:srgbClr val="EBCDAF"/>
    <a:srgbClr val="313D4C"/>
    <a:srgbClr val="FEEEEC"/>
    <a:srgbClr val="FEE7D5"/>
    <a:srgbClr val="FFE699"/>
    <a:srgbClr val="EBB91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4660"/>
  </p:normalViewPr>
  <p:slideViewPr>
    <p:cSldViewPr snapToGrid="0">
      <p:cViewPr>
        <p:scale>
          <a:sx n="80" d="100"/>
          <a:sy n="80" d="100"/>
        </p:scale>
        <p:origin x="-39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BCDE83-3ACB-EF10-15EC-EE2980442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720DAAB-88F2-39AC-943A-8E2732669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E9C9A2A-0F39-9B51-9829-13FAA707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588BF-03E2-0B34-2E6B-15C17F3A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5D8EBD6-F247-ADB8-B974-641D8ECF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6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3A148F-2E07-7596-F96D-9ADAB960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4DF7FB-7547-CB2F-8F4D-84AC3F39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D38DDA6-9DFB-D31A-BF3E-1BDCBDFE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6136E09-9507-61B2-F888-7F221818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9D288BB-CDC3-07EA-8AA7-C03533F0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9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2011F4-2E5E-0265-5080-61F32EE9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F2C1E38-3870-E2B2-9FD1-BB2ACE213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5F8F60E-04C7-0A44-08D8-33A0546B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0FCB652-FCCA-C483-6638-F3E413C6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04497A0-0A65-1499-0426-CEA22691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9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844683-4E87-575F-C6BA-E707C30A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191E95C-2A68-6149-C633-5A3CCFA1A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186EEF9-4A93-0ACE-2CC7-7CF4E07F2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638C62E-5FA0-423E-D115-B5E139C0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514D32E-761F-74A1-F56F-40FCFC89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60B2ABF-EA72-32BB-39EF-0CEA5384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0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B09111-1B94-5A34-A8DD-8F56670A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A669000-D91E-C034-9E81-329330F33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005F58A-693C-CF2F-72BD-078DE8E3A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6CD43E1-CD97-2C4F-3BBE-2A9E3BCC0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2837929-67E1-06B5-3764-77D94B498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54B2B3F-4509-A0B4-17C1-3AE7B7BF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63D7E24-BCBA-BB53-C40D-1E2E8517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391C2B0-1EB3-221D-BD62-4DC61D84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4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74415A-3253-8FBA-E30C-2C9C9369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BC101E8-02C6-5A20-89C7-BFAF287C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AA18373-A6B2-C0C2-1C63-322FF54E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DE982F3-28CF-CEB2-0FA4-6450312A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23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6924D26-EB9B-4212-B4BE-2060AA53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8AF088F-D942-155B-6DCE-32396D36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2566543-44FD-B6BE-3316-67A63231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9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62E4D6-A102-810A-762B-C296DBC5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F00D07-AE2C-46F8-9BC9-955084D78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327FE0F-75C4-DB7B-7D64-E2D0D8CE1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B57A46F-FE89-E21B-E382-7B787CEC9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546CDB5-3D1E-0748-C3F1-F1630F0A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B6C0AA-D848-9A11-BE3F-13EFCA74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6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BF6A23-0A7E-55D3-F9E6-182A14E6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CE8D8F2-8C05-09CC-4793-DC97D2662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95B9319-651E-9AC8-A52E-4CADF162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5A0D6AC-FA1E-F4FD-F935-6DD0AA18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CD3F52-6E76-0DD5-D152-48C189B7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4B355F-A018-9A57-BD1A-8E424B1D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7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39098B-4448-F2D4-3B0D-17860F96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D0A2190-62DD-6B0E-AB01-3412B3A7F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3D9238-F743-56C2-9755-031DC4A3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3B4B98-026C-647F-10C9-2EF2737F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0C6CAA-3134-74EC-B520-CD959B3D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4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B0BDD17-783B-E9F7-E37A-DBDBE332C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0563868-934F-543D-E38A-AA75C422F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19D25F-C460-8E6E-7E53-60B07FB6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DF799AC-10F3-A026-AC18-992B46DE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7CAFAF9-AE04-8385-6EA7-3B14145F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0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6FE427B-D9EB-D61B-23A1-4CE09EF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2AF4141-0FEC-D305-4E03-407B18565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58343F5-9003-2159-F04E-E998C38EE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B795D-1A70-40D7-B60E-5BE9BB8D3B9E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625F063-D648-03B0-E8A6-C8C68E64C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E1113BC-61F4-80F6-210C-72D2336BC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4384D-A4A7-4765-A999-5376202C7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6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12" Type="http://schemas.openxmlformats.org/officeDocument/2006/relationships/image" Target="../media/image7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6.jpe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slide" Target="slide2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14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1.png"/><Relationship Id="rId4" Type="http://schemas.openxmlformats.org/officeDocument/2006/relationships/slide" Target="slide2.xml"/><Relationship Id="rId9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0.svg"/><Relationship Id="rId7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sv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11" Type="http://schemas.openxmlformats.org/officeDocument/2006/relationships/image" Target="../media/image20.jpeg"/><Relationship Id="rId5" Type="http://schemas.openxmlformats.org/officeDocument/2006/relationships/image" Target="../media/image17.png"/><Relationship Id="rId10" Type="http://schemas.microsoft.com/office/2007/relationships/hdphoto" Target="../media/hdphoto2.wdp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10" Type="http://schemas.openxmlformats.org/officeDocument/2006/relationships/image" Target="../media/image21.jpeg"/><Relationship Id="rId4" Type="http://schemas.openxmlformats.org/officeDocument/2006/relationships/slide" Target="slide2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5.sv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svg"/><Relationship Id="rId7" Type="http://schemas.openxmlformats.org/officeDocument/2006/relationships/image" Target="../media/image2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FD2A564-DFD9-3212-7DE9-3BE514CE5C90}"/>
              </a:ext>
            </a:extLst>
          </p:cNvPr>
          <p:cNvSpPr/>
          <p:nvPr/>
        </p:nvSpPr>
        <p:spPr>
          <a:xfrm>
            <a:off x="0" y="3150887"/>
            <a:ext cx="12192000" cy="244970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13D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EDBEA165-2455-25E5-C64A-1668521B4CAB}"/>
              </a:ext>
            </a:extLst>
          </p:cNvPr>
          <p:cNvSpPr/>
          <p:nvPr/>
        </p:nvSpPr>
        <p:spPr>
          <a:xfrm>
            <a:off x="3789207" y="3643242"/>
            <a:ext cx="4328133" cy="728870"/>
          </a:xfrm>
          <a:prstGeom prst="roundRect">
            <a:avLst>
              <a:gd name="adj" fmla="val 50000"/>
            </a:avLst>
          </a:prstGeom>
          <a:solidFill>
            <a:srgbClr val="F3BC05"/>
          </a:solidFill>
          <a:ln>
            <a:solidFill>
              <a:srgbClr val="F3B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Stenly</a:t>
            </a:r>
            <a:r>
              <a:rPr lang="en-US" sz="2400" b="1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Andika</a:t>
            </a:r>
            <a:endParaRPr lang="en-US" sz="24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191200013</a:t>
            </a:r>
            <a:endParaRPr lang="en-US" sz="24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2896F1E-0AB4-075E-ADE5-39953F808DC5}"/>
              </a:ext>
            </a:extLst>
          </p:cNvPr>
          <p:cNvSpPr txBox="1"/>
          <p:nvPr/>
        </p:nvSpPr>
        <p:spPr>
          <a:xfrm>
            <a:off x="1951546" y="1170709"/>
            <a:ext cx="7955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Sistem</a:t>
            </a:r>
            <a:r>
              <a:rPr lang="en-US" sz="3600" b="1" dirty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3600" b="1" dirty="0" err="1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Informasi</a:t>
            </a:r>
            <a:r>
              <a:rPr lang="en-US" sz="3600" b="1" dirty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3600" b="1" dirty="0" err="1" smtClean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Manajamen</a:t>
            </a:r>
            <a:r>
              <a:rPr lang="en-US" sz="3600" b="1" dirty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3600" b="1" dirty="0" err="1" smtClean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Pada</a:t>
            </a:r>
            <a:r>
              <a:rPr lang="en-US" sz="3600" b="1" dirty="0" smtClean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3600" b="1" dirty="0" err="1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Puskesmas</a:t>
            </a:r>
            <a:r>
              <a:rPr lang="en-US" sz="3600" b="1" dirty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3600" b="1" dirty="0" err="1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Siulak</a:t>
            </a:r>
            <a:r>
              <a:rPr lang="en-US" sz="3600" b="1" dirty="0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3600" b="1" dirty="0" err="1">
                <a:solidFill>
                  <a:srgbClr val="012757"/>
                </a:solidFill>
                <a:latin typeface="Mulish" charset="0"/>
                <a:ea typeface="Times New Roman" panose="02020603050405020304" pitchFamily="18" charset="0"/>
                <a:cs typeface="Aharoni" panose="02010803020104030203" pitchFamily="2" charset="-79"/>
              </a:rPr>
              <a:t>Mukai</a:t>
            </a:r>
            <a:endParaRPr lang="en-US" sz="3600" b="1" dirty="0">
              <a:solidFill>
                <a:srgbClr val="012757"/>
              </a:solidFill>
              <a:latin typeface="Mulish" charset="0"/>
              <a:ea typeface="Times New Roman" panose="02020603050405020304" pitchFamily="18" charset="0"/>
              <a:cs typeface="Aharoni" panose="02010803020104030203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8F0E9F12-F03A-BD5C-87BD-49C15F6A8E11}"/>
              </a:ext>
            </a:extLst>
          </p:cNvPr>
          <p:cNvSpPr txBox="1"/>
          <p:nvPr/>
        </p:nvSpPr>
        <p:spPr>
          <a:xfrm>
            <a:off x="3052011" y="3001385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Flowchart: Delay 2">
            <a:extLst>
              <a:ext uri="{FF2B5EF4-FFF2-40B4-BE49-F238E27FC236}">
                <a16:creationId xmlns="" xmlns:a16="http://schemas.microsoft.com/office/drawing/2014/main" id="{163D8804-999F-48DD-B7D6-D651B7DE6082}"/>
              </a:ext>
            </a:extLst>
          </p:cNvPr>
          <p:cNvSpPr/>
          <p:nvPr/>
        </p:nvSpPr>
        <p:spPr>
          <a:xfrm rot="5400000" flipV="1">
            <a:off x="9978734" y="86591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="" xmlns:a16="http://schemas.microsoft.com/office/drawing/2014/main" id="{8FE300F9-60F4-5037-9549-278393A35AF6}"/>
              </a:ext>
            </a:extLst>
          </p:cNvPr>
          <p:cNvSpPr/>
          <p:nvPr/>
        </p:nvSpPr>
        <p:spPr>
          <a:xfrm>
            <a:off x="10186551" y="193963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E3B8FFC-4812-764A-51A0-CC02C48CF311}"/>
              </a:ext>
            </a:extLst>
          </p:cNvPr>
          <p:cNvSpPr txBox="1"/>
          <p:nvPr/>
        </p:nvSpPr>
        <p:spPr>
          <a:xfrm>
            <a:off x="3781756" y="4583690"/>
            <a:ext cx="4294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n>
                  <a:solidFill>
                    <a:schemeClr val="bg1"/>
                  </a:solidFill>
                </a:ln>
                <a:latin typeface="Aharoni" panose="02010803020104030203" pitchFamily="2" charset="-79"/>
                <a:cs typeface="Aharoni" panose="02010803020104030203" pitchFamily="2" charset="-79"/>
              </a:rPr>
              <a:t>S1 </a:t>
            </a:r>
            <a:r>
              <a:rPr lang="en-US" sz="2400" b="1" dirty="0">
                <a:ln>
                  <a:solidFill>
                    <a:schemeClr val="bg1"/>
                  </a:solidFill>
                </a:ln>
                <a:latin typeface="Aharoni" panose="02010803020104030203" pitchFamily="2" charset="-79"/>
                <a:cs typeface="Aharoni" panose="02010803020104030203" pitchFamily="2" charset="-79"/>
              </a:rPr>
              <a:t>– SISTEM INFORMASI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BDF78D0-3BB9-77CD-BB4B-81DC3C21FDC4}"/>
              </a:ext>
            </a:extLst>
          </p:cNvPr>
          <p:cNvSpPr txBox="1"/>
          <p:nvPr/>
        </p:nvSpPr>
        <p:spPr>
          <a:xfrm>
            <a:off x="3781756" y="5021712"/>
            <a:ext cx="4294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latin typeface="Aharoni" panose="02010803020104030203" pitchFamily="2" charset="-79"/>
                <a:cs typeface="Aharoni" panose="02010803020104030203" pitchFamily="2" charset="-79"/>
              </a:rPr>
              <a:t>UNIVERSITAS METAMEDIA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5A9B9D24-356F-4624-8479-8808168BE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679" y="190091"/>
            <a:ext cx="761532" cy="793075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lc="http://schemas.openxmlformats.org/drawingml/2006/lockedCanvas" xmlns:a16="http://schemas.microsoft.com/office/drawing/2014/main" xmlns="" id="{B7F1B77D-D246-2919-20F3-F7B0DDD4FE74}"/>
              </a:ext>
            </a:extLst>
          </p:cNvPr>
          <p:cNvSpPr txBox="1"/>
          <p:nvPr/>
        </p:nvSpPr>
        <p:spPr>
          <a:xfrm>
            <a:off x="267888" y="5641062"/>
            <a:ext cx="509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PEMBIMBING I</a:t>
            </a:r>
            <a:r>
              <a:rPr lang="en-US" b="1" dirty="0"/>
              <a:t>	</a:t>
            </a:r>
            <a:r>
              <a:rPr lang="en-US" b="1" dirty="0" smtClean="0"/>
              <a:t>: </a:t>
            </a:r>
            <a:r>
              <a:rPr lang="en-US" b="1" dirty="0" err="1" smtClean="0"/>
              <a:t>Heru</a:t>
            </a:r>
            <a:r>
              <a:rPr lang="en-US" b="1" dirty="0" smtClean="0"/>
              <a:t> </a:t>
            </a:r>
            <a:r>
              <a:rPr lang="en-US" b="1" dirty="0" err="1" smtClean="0"/>
              <a:t>Saputra</a:t>
            </a:r>
            <a:r>
              <a:rPr lang="en-US" b="1" dirty="0" smtClean="0"/>
              <a:t>, </a:t>
            </a:r>
            <a:r>
              <a:rPr lang="en-US" b="1" dirty="0" err="1" smtClean="0"/>
              <a:t>M.Kom</a:t>
            </a:r>
            <a:endParaRPr lang="en-ID" b="1" dirty="0"/>
          </a:p>
        </p:txBody>
      </p:sp>
      <p:sp>
        <p:nvSpPr>
          <p:cNvPr id="15" name="TextBox 1">
            <a:extLst>
              <a:ext uri="{FF2B5EF4-FFF2-40B4-BE49-F238E27FC236}">
                <a16:creationId xmlns:lc="http://schemas.openxmlformats.org/drawingml/2006/lockedCanvas" xmlns:a16="http://schemas.microsoft.com/office/drawing/2014/main" xmlns="" id="{B7F1B77D-D246-2919-20F3-F7B0DDD4FE74}"/>
              </a:ext>
            </a:extLst>
          </p:cNvPr>
          <p:cNvSpPr txBox="1"/>
          <p:nvPr/>
        </p:nvSpPr>
        <p:spPr>
          <a:xfrm>
            <a:off x="267888" y="5978128"/>
            <a:ext cx="509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PEMBIMBING II</a:t>
            </a:r>
            <a:r>
              <a:rPr lang="en-US" b="1" dirty="0"/>
              <a:t>	</a:t>
            </a:r>
            <a:r>
              <a:rPr lang="en-US" b="1" dirty="0" smtClean="0"/>
              <a:t>: </a:t>
            </a:r>
            <a:r>
              <a:rPr lang="en-US" b="1" dirty="0" err="1" smtClean="0"/>
              <a:t>Karfindo</a:t>
            </a:r>
            <a:r>
              <a:rPr lang="en-US" b="1" dirty="0" smtClean="0"/>
              <a:t>, </a:t>
            </a:r>
            <a:r>
              <a:rPr lang="en-US" b="1" dirty="0" err="1" smtClean="0"/>
              <a:t>M.Kom</a:t>
            </a:r>
            <a:endParaRPr lang="en-ID" b="1" dirty="0"/>
          </a:p>
        </p:txBody>
      </p:sp>
      <p:sp>
        <p:nvSpPr>
          <p:cNvPr id="16" name="TextBox 1">
            <a:extLst>
              <a:ext uri="{FF2B5EF4-FFF2-40B4-BE49-F238E27FC236}">
                <a16:creationId xmlns:lc="http://schemas.openxmlformats.org/drawingml/2006/lockedCanvas" xmlns:a16="http://schemas.microsoft.com/office/drawing/2014/main" xmlns="" id="{B7F1B77D-D246-2919-20F3-F7B0DDD4FE74}"/>
              </a:ext>
            </a:extLst>
          </p:cNvPr>
          <p:cNvSpPr txBox="1"/>
          <p:nvPr/>
        </p:nvSpPr>
        <p:spPr>
          <a:xfrm>
            <a:off x="6880860" y="5641062"/>
            <a:ext cx="509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PENGUJI		: </a:t>
            </a:r>
            <a:r>
              <a:rPr lang="en-US" b="1" dirty="0" err="1" smtClean="0"/>
              <a:t>Gusrino</a:t>
            </a:r>
            <a:r>
              <a:rPr lang="en-US" b="1" dirty="0" smtClean="0"/>
              <a:t> </a:t>
            </a:r>
            <a:r>
              <a:rPr lang="en-US" b="1" dirty="0" err="1" smtClean="0"/>
              <a:t>Yanto</a:t>
            </a:r>
            <a:r>
              <a:rPr lang="en-US" b="1" dirty="0" smtClean="0"/>
              <a:t>, </a:t>
            </a:r>
            <a:r>
              <a:rPr lang="en-US" b="1" dirty="0" err="1" smtClean="0"/>
              <a:t>M.Kom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24110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4">
            <a:extLst>
              <a:ext uri="{FF2B5EF4-FFF2-40B4-BE49-F238E27FC236}">
                <a16:creationId xmlns="" xmlns:a16="http://schemas.microsoft.com/office/drawing/2014/main" id="{99EB4356-18B3-DCBB-94AC-B1C97001DCF3}"/>
              </a:ext>
            </a:extLst>
          </p:cNvPr>
          <p:cNvGrpSpPr/>
          <p:nvPr/>
        </p:nvGrpSpPr>
        <p:grpSpPr>
          <a:xfrm rot="3733867">
            <a:off x="-926565" y="2696596"/>
            <a:ext cx="5646981" cy="4249008"/>
            <a:chOff x="0" y="0"/>
            <a:chExt cx="16269610" cy="10892009"/>
          </a:xfrm>
        </p:grpSpPr>
        <p:sp>
          <p:nvSpPr>
            <p:cNvPr id="26" name="Freeform 5">
              <a:extLst>
                <a:ext uri="{FF2B5EF4-FFF2-40B4-BE49-F238E27FC236}">
                  <a16:creationId xmlns="" xmlns:a16="http://schemas.microsoft.com/office/drawing/2014/main" id="{1C6C1363-70E5-FF8F-D526-28467F546C43}"/>
                </a:ext>
              </a:extLst>
            </p:cNvPr>
            <p:cNvSpPr/>
            <p:nvPr/>
          </p:nvSpPr>
          <p:spPr>
            <a:xfrm>
              <a:off x="0" y="0"/>
              <a:ext cx="16269610" cy="10778617"/>
            </a:xfrm>
            <a:custGeom>
              <a:avLst/>
              <a:gdLst/>
              <a:ahLst/>
              <a:cxnLst/>
              <a:rect l="l" t="t" r="r" b="b"/>
              <a:pathLst>
                <a:path w="16269610" h="10778617">
                  <a:moveTo>
                    <a:pt x="0" y="0"/>
                  </a:moveTo>
                  <a:lnTo>
                    <a:pt x="16269610" y="0"/>
                  </a:lnTo>
                  <a:lnTo>
                    <a:pt x="16269610" y="10778617"/>
                  </a:lnTo>
                  <a:lnTo>
                    <a:pt x="0" y="1077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" name="Freeform 6">
              <a:extLst>
                <a:ext uri="{FF2B5EF4-FFF2-40B4-BE49-F238E27FC236}">
                  <a16:creationId xmlns="" xmlns:a16="http://schemas.microsoft.com/office/drawing/2014/main" id="{2E7BD9A4-E185-BBD7-68CA-B8A1369FD29F}"/>
                </a:ext>
              </a:extLst>
            </p:cNvPr>
            <p:cNvSpPr/>
            <p:nvPr/>
          </p:nvSpPr>
          <p:spPr>
            <a:xfrm>
              <a:off x="2042892" y="2009289"/>
              <a:ext cx="13407879" cy="8882720"/>
            </a:xfrm>
            <a:custGeom>
              <a:avLst/>
              <a:gdLst/>
              <a:ahLst/>
              <a:cxnLst/>
              <a:rect l="l" t="t" r="r" b="b"/>
              <a:pathLst>
                <a:path w="13407879" h="8882720">
                  <a:moveTo>
                    <a:pt x="0" y="0"/>
                  </a:moveTo>
                  <a:lnTo>
                    <a:pt x="13407879" y="0"/>
                  </a:lnTo>
                  <a:lnTo>
                    <a:pt x="13407879" y="8882720"/>
                  </a:lnTo>
                  <a:lnTo>
                    <a:pt x="0" y="888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8" name="Group 7">
            <a:extLst>
              <a:ext uri="{FF2B5EF4-FFF2-40B4-BE49-F238E27FC236}">
                <a16:creationId xmlns="" xmlns:a16="http://schemas.microsoft.com/office/drawing/2014/main" id="{B37CF5D4-D484-6D1D-0354-49416391B17D}"/>
              </a:ext>
            </a:extLst>
          </p:cNvPr>
          <p:cNvGrpSpPr/>
          <p:nvPr/>
        </p:nvGrpSpPr>
        <p:grpSpPr>
          <a:xfrm>
            <a:off x="-1214901" y="5525687"/>
            <a:ext cx="7113359" cy="2069175"/>
            <a:chOff x="0" y="0"/>
            <a:chExt cx="1362556" cy="396348"/>
          </a:xfrm>
          <a:solidFill>
            <a:srgbClr val="313D4C"/>
          </a:solidFill>
        </p:grpSpPr>
        <p:sp>
          <p:nvSpPr>
            <p:cNvPr id="29" name="Freeform 8">
              <a:extLst>
                <a:ext uri="{FF2B5EF4-FFF2-40B4-BE49-F238E27FC236}">
                  <a16:creationId xmlns="" xmlns:a16="http://schemas.microsoft.com/office/drawing/2014/main" id="{D5C05ED9-ED48-4519-A027-2599A66DB6BA}"/>
                </a:ext>
              </a:extLst>
            </p:cNvPr>
            <p:cNvSpPr/>
            <p:nvPr/>
          </p:nvSpPr>
          <p:spPr>
            <a:xfrm>
              <a:off x="0" y="0"/>
              <a:ext cx="1362556" cy="396348"/>
            </a:xfrm>
            <a:custGeom>
              <a:avLst/>
              <a:gdLst/>
              <a:ahLst/>
              <a:cxnLst/>
              <a:rect l="l" t="t" r="r" b="b"/>
              <a:pathLst>
                <a:path w="1362556" h="396348">
                  <a:moveTo>
                    <a:pt x="0" y="0"/>
                  </a:moveTo>
                  <a:lnTo>
                    <a:pt x="1362556" y="0"/>
                  </a:lnTo>
                  <a:lnTo>
                    <a:pt x="1362556" y="396348"/>
                  </a:lnTo>
                  <a:lnTo>
                    <a:pt x="0" y="396348"/>
                  </a:lnTo>
                  <a:close/>
                </a:path>
              </a:pathLst>
            </a:custGeom>
            <a:grpFill/>
            <a:ln>
              <a:solidFill>
                <a:srgbClr val="313D4C"/>
              </a:solidFill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D2496E7B-E446-FB17-FB86-2AFA02EBFFD3}"/>
              </a:ext>
            </a:extLst>
          </p:cNvPr>
          <p:cNvSpPr/>
          <p:nvPr/>
        </p:nvSpPr>
        <p:spPr>
          <a:xfrm>
            <a:off x="1807536" y="1094852"/>
            <a:ext cx="10165208" cy="5193653"/>
          </a:xfrm>
          <a:prstGeom prst="roundRect">
            <a:avLst>
              <a:gd name="adj" fmla="val 614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hlinkClick r:id="rId4" action="ppaction://hlinksldjump"/>
            <a:extLst>
              <a:ext uri="{FF2B5EF4-FFF2-40B4-BE49-F238E27FC236}">
                <a16:creationId xmlns="" xmlns:a16="http://schemas.microsoft.com/office/drawing/2014/main" id="{DDD8A15C-4354-D710-91D9-9CDFAA841D7A}"/>
              </a:ext>
            </a:extLst>
          </p:cNvPr>
          <p:cNvSpPr/>
          <p:nvPr/>
        </p:nvSpPr>
        <p:spPr>
          <a:xfrm>
            <a:off x="2229948" y="766799"/>
            <a:ext cx="2525103" cy="496002"/>
          </a:xfrm>
          <a:prstGeom prst="roundRect">
            <a:avLst/>
          </a:prstGeom>
          <a:solidFill>
            <a:srgbClr val="FFC000"/>
          </a:solidFill>
          <a:ln w="571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Latar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Belakang</a:t>
            </a:r>
            <a:endParaRPr lang="en-ID" sz="20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Freeform 20">
            <a:extLst>
              <a:ext uri="{FF2B5EF4-FFF2-40B4-BE49-F238E27FC236}">
                <a16:creationId xmlns="" xmlns:a16="http://schemas.microsoft.com/office/drawing/2014/main" id="{166FB0D9-175B-E37A-A474-158AACBC114A}"/>
              </a:ext>
            </a:extLst>
          </p:cNvPr>
          <p:cNvSpPr/>
          <p:nvPr/>
        </p:nvSpPr>
        <p:spPr>
          <a:xfrm rot="17609491">
            <a:off x="152572" y="5149473"/>
            <a:ext cx="1385721" cy="1776419"/>
          </a:xfrm>
          <a:custGeom>
            <a:avLst/>
            <a:gdLst/>
            <a:ahLst/>
            <a:cxnLst/>
            <a:rect l="l" t="t" r="r" b="b"/>
            <a:pathLst>
              <a:path w="4135477" h="4114800">
                <a:moveTo>
                  <a:pt x="0" y="0"/>
                </a:moveTo>
                <a:lnTo>
                  <a:pt x="4135478" y="0"/>
                </a:lnTo>
                <a:lnTo>
                  <a:pt x="4135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10">
            <a:extLst>
              <a:ext uri="{FF2B5EF4-FFF2-40B4-BE49-F238E27FC236}">
                <a16:creationId xmlns="" xmlns:a16="http://schemas.microsoft.com/office/drawing/2014/main" id="{A75C862A-6B68-0140-FF10-1AECE0C8A992}"/>
              </a:ext>
            </a:extLst>
          </p:cNvPr>
          <p:cNvSpPr/>
          <p:nvPr/>
        </p:nvSpPr>
        <p:spPr>
          <a:xfrm>
            <a:off x="980304" y="3883614"/>
            <a:ext cx="2787638" cy="2985368"/>
          </a:xfrm>
          <a:custGeom>
            <a:avLst/>
            <a:gdLst/>
            <a:ahLst/>
            <a:cxnLst/>
            <a:rect l="l" t="t" r="r" b="b"/>
            <a:pathLst>
              <a:path w="3598580" h="4114800">
                <a:moveTo>
                  <a:pt x="0" y="0"/>
                </a:moveTo>
                <a:lnTo>
                  <a:pt x="3598580" y="0"/>
                </a:lnTo>
                <a:lnTo>
                  <a:pt x="3598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F8BF176C-F3D2-8005-A174-4304D6AF7EC8}"/>
              </a:ext>
            </a:extLst>
          </p:cNvPr>
          <p:cNvSpPr txBox="1"/>
          <p:nvPr/>
        </p:nvSpPr>
        <p:spPr>
          <a:xfrm>
            <a:off x="1916495" y="1561917"/>
            <a:ext cx="978517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just">
              <a:lnSpc>
                <a:spcPct val="150000"/>
              </a:lnSpc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Flowchart: Delay 6">
            <a:extLst>
              <a:ext uri="{FF2B5EF4-FFF2-40B4-BE49-F238E27FC236}">
                <a16:creationId xmlns="" xmlns:a16="http://schemas.microsoft.com/office/drawing/2014/main" id="{FC0FD50C-BDB2-A6BD-9127-12E9EE32CB27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="" xmlns:a16="http://schemas.microsoft.com/office/drawing/2014/main" id="{4C028D6C-4CBB-9275-462A-2CDB144393BA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BEE77C35-76B8-4843-964F-6C38B3D5D0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58866BE5-AD51-644F-9285-BC1CC3953674}"/>
              </a:ext>
            </a:extLst>
          </p:cNvPr>
          <p:cNvSpPr/>
          <p:nvPr/>
        </p:nvSpPr>
        <p:spPr>
          <a:xfrm>
            <a:off x="4632448" y="1805047"/>
            <a:ext cx="5995968" cy="86689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" sz="1600" b="1" dirty="0">
                <a:solidFill>
                  <a:schemeClr val="tx1"/>
                </a:solidFill>
                <a:latin typeface="Mulish" charset="0"/>
              </a:rPr>
              <a:t>Proses pengelolaan data pada puskesmas saat ini masih belum terintegrasi secara komputerisasi, </a:t>
            </a:r>
            <a:r>
              <a:rPr lang="en" sz="1600" b="1" dirty="0" smtClean="0">
                <a:solidFill>
                  <a:schemeClr val="tx1"/>
                </a:solidFill>
                <a:latin typeface="Mulish" charset="0"/>
              </a:rPr>
              <a:t>baik bagian pendaftaran, poli, atau apotek.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3C77DA97-2BB1-407F-EAE5-65FB47A89DB2}"/>
              </a:ext>
            </a:extLst>
          </p:cNvPr>
          <p:cNvSpPr/>
          <p:nvPr/>
        </p:nvSpPr>
        <p:spPr>
          <a:xfrm>
            <a:off x="5367115" y="4812220"/>
            <a:ext cx="6235077" cy="112815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Proses yang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masih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manual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juga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menimbulkan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masalah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berupa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sulitnya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akses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riwayat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berobat</a:t>
            </a:r>
            <a:r>
              <a:rPr lang="en-US" sz="16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pasien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dan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susahnya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menghitung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logistik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obat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oleh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petugas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apotek</a:t>
            </a:r>
            <a:r>
              <a:rPr lang="en-US" sz="16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.</a:t>
            </a:r>
            <a:endParaRPr lang="en-US" sz="1600" b="1" dirty="0">
              <a:solidFill>
                <a:schemeClr val="tx1"/>
              </a:solidFill>
              <a:latin typeface="Mulish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A379D1CE-DD8C-DE78-E34B-D577B4398E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965" y="4707264"/>
            <a:ext cx="1453431" cy="1453431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="" xmlns:a16="http://schemas.microsoft.com/office/drawing/2014/main" id="{489C67B9-E178-4429-A005-99C897A78831}"/>
              </a:ext>
            </a:extLst>
          </p:cNvPr>
          <p:cNvSpPr/>
          <p:nvPr/>
        </p:nvSpPr>
        <p:spPr>
          <a:xfrm>
            <a:off x="6044540" y="3042985"/>
            <a:ext cx="5557652" cy="13344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" sz="1600" b="1" dirty="0">
                <a:solidFill>
                  <a:schemeClr val="tx1"/>
                </a:solidFill>
                <a:latin typeface="Mulish" charset="0"/>
              </a:rPr>
              <a:t>Proses pendataan </a:t>
            </a:r>
            <a:r>
              <a:rPr lang="en" sz="1600" b="1" dirty="0" smtClean="0">
                <a:solidFill>
                  <a:schemeClr val="tx1"/>
                </a:solidFill>
                <a:latin typeface="Mulish" charset="0"/>
              </a:rPr>
              <a:t>yang masih </a:t>
            </a:r>
            <a:r>
              <a:rPr lang="en" sz="1600" b="1" dirty="0">
                <a:solidFill>
                  <a:schemeClr val="tx1"/>
                </a:solidFill>
                <a:latin typeface="Mulish" charset="0"/>
              </a:rPr>
              <a:t>dilakukan secara manual dengan pencatatan </a:t>
            </a:r>
            <a:r>
              <a:rPr lang="en" sz="1600" b="1" dirty="0" smtClean="0">
                <a:solidFill>
                  <a:schemeClr val="tx1"/>
                </a:solidFill>
                <a:latin typeface="Mulish" charset="0"/>
              </a:rPr>
              <a:t>buku </a:t>
            </a:r>
            <a:r>
              <a:rPr lang="en" sz="1600" b="1" dirty="0">
                <a:solidFill>
                  <a:schemeClr val="tx1"/>
                </a:solidFill>
                <a:latin typeface="Mulish" charset="0"/>
              </a:rPr>
              <a:t>juga berdampak pada kerusakan, kehilangan data, maupun manipulasi data, hal ini dirasa kurang efektif dari segi perekapan </a:t>
            </a:r>
            <a:r>
              <a:rPr lang="en" sz="1600" b="1" dirty="0" smtClean="0">
                <a:solidFill>
                  <a:schemeClr val="tx1"/>
                </a:solidFill>
                <a:latin typeface="Mulish" charset="0"/>
              </a:rPr>
              <a:t>data.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D952FF39-8D11-DDB6-18EB-7A2F39ADB80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390" y="2899014"/>
            <a:ext cx="1322162" cy="15853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lc="http://schemas.openxmlformats.org/drawingml/2006/lockedCanvas" xmlns:a16="http://schemas.microsoft.com/office/drawing/2014/main" xmlns="" id="{5E33324C-2CF2-F999-3BC7-9E35A7D481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456" y="1575741"/>
            <a:ext cx="1532224" cy="139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8822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2328797" y="1950086"/>
            <a:ext cx="4398553" cy="9438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bg1"/>
                </a:solidFill>
                <a:latin typeface="Mulish" charset="0"/>
              </a:rPr>
              <a:t>Sistem</a:t>
            </a:r>
            <a:r>
              <a:rPr lang="en-US" sz="1600" b="1" dirty="0">
                <a:solidFill>
                  <a:schemeClr val="bg1"/>
                </a:solidFill>
                <a:latin typeface="Mulish" charset="0"/>
              </a:rPr>
              <a:t> yang </a:t>
            </a:r>
            <a:r>
              <a:rPr lang="en-US" sz="1600" b="1" dirty="0" err="1">
                <a:solidFill>
                  <a:schemeClr val="bg1"/>
                </a:solidFill>
                <a:latin typeface="Mulish" charset="0"/>
              </a:rPr>
              <a:t>belum</a:t>
            </a:r>
            <a:r>
              <a:rPr lang="en-US" sz="1600" b="1" dirty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Mulish" charset="0"/>
              </a:rPr>
              <a:t>terintegrasi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2775F4FB-9070-34A0-6022-F69F573A541D}"/>
              </a:ext>
            </a:extLst>
          </p:cNvPr>
          <p:cNvSpPr/>
          <p:nvPr/>
        </p:nvSpPr>
        <p:spPr>
          <a:xfrm>
            <a:off x="3176728" y="3237294"/>
            <a:ext cx="4567911" cy="79514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Mulish" charset="0"/>
              </a:rPr>
              <a:t>Proses </a:t>
            </a:r>
            <a:r>
              <a:rPr lang="en-US" sz="1600" b="1" dirty="0" err="1">
                <a:solidFill>
                  <a:schemeClr val="bg1"/>
                </a:solidFill>
                <a:latin typeface="Mulish" charset="0"/>
              </a:rPr>
              <a:t>pengolahan</a:t>
            </a:r>
            <a:r>
              <a:rPr lang="en-US" sz="1600" b="1" dirty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data yang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masih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Mulish" charset="0"/>
              </a:rPr>
              <a:t>dilakukan</a:t>
            </a:r>
            <a:r>
              <a:rPr lang="en-US" sz="1600" b="1" dirty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Mulish" charset="0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Mulish" charset="0"/>
              </a:rPr>
              <a:t> manual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EBD571E8-8B1E-1B87-77D9-EA5791A6220D}"/>
              </a:ext>
            </a:extLst>
          </p:cNvPr>
          <p:cNvSpPr/>
          <p:nvPr/>
        </p:nvSpPr>
        <p:spPr>
          <a:xfrm>
            <a:off x="4528073" y="4575154"/>
            <a:ext cx="5548789" cy="6757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Sulitnya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akses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riwayat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berobat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pasien</a:t>
            </a:r>
            <a:endParaRPr lang="en-US" sz="16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3" name="Freeform 13">
            <a:extLst>
              <a:ext uri="{FF2B5EF4-FFF2-40B4-BE49-F238E27FC236}">
                <a16:creationId xmlns="" xmlns:a16="http://schemas.microsoft.com/office/drawing/2014/main" id="{CD3C68BF-05CD-299D-10C1-5178BFC07A63}"/>
              </a:ext>
            </a:extLst>
          </p:cNvPr>
          <p:cNvSpPr/>
          <p:nvPr/>
        </p:nvSpPr>
        <p:spPr>
          <a:xfrm>
            <a:off x="10087909" y="5198088"/>
            <a:ext cx="2192884" cy="1659911"/>
          </a:xfrm>
          <a:custGeom>
            <a:avLst/>
            <a:gdLst/>
            <a:ahLst/>
            <a:cxnLst/>
            <a:rect l="l" t="t" r="r" b="b"/>
            <a:pathLst>
              <a:path w="4995894" h="4114800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hlinkClick r:id="rId4" action="ppaction://hlinksldjump"/>
            <a:extLst>
              <a:ext uri="{FF2B5EF4-FFF2-40B4-BE49-F238E27FC236}">
                <a16:creationId xmlns="" xmlns:a16="http://schemas.microsoft.com/office/drawing/2014/main" id="{E06C759E-AF0A-2F1F-10CD-43C955459B7F}"/>
              </a:ext>
            </a:extLst>
          </p:cNvPr>
          <p:cNvSpPr/>
          <p:nvPr/>
        </p:nvSpPr>
        <p:spPr>
          <a:xfrm>
            <a:off x="5219537" y="1120167"/>
            <a:ext cx="2525103" cy="496002"/>
          </a:xfrm>
          <a:prstGeom prst="roundRect">
            <a:avLst/>
          </a:prstGeom>
          <a:solidFill>
            <a:srgbClr val="FFC000"/>
          </a:solidFill>
          <a:ln w="571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Mulish" charset="0"/>
                <a:cs typeface="Aharoni" panose="02010803020104030203" pitchFamily="2" charset="-79"/>
              </a:rPr>
              <a:t>Identifikasi</a:t>
            </a:r>
            <a:r>
              <a:rPr lang="en-US" b="1" dirty="0">
                <a:solidFill>
                  <a:schemeClr val="tx1"/>
                </a:solidFill>
                <a:latin typeface="Mulish" charset="0"/>
                <a:cs typeface="Aharoni" panose="02010803020104030203" pitchFamily="2" charset="-79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ulish" charset="0"/>
                <a:cs typeface="Aharoni" panose="02010803020104030203" pitchFamily="2" charset="-79"/>
              </a:rPr>
              <a:t>Masalah</a:t>
            </a:r>
            <a:endParaRPr lang="en-ID" b="1" dirty="0">
              <a:solidFill>
                <a:schemeClr val="tx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36" name="Flowchart: Delay 35">
            <a:extLst>
              <a:ext uri="{FF2B5EF4-FFF2-40B4-BE49-F238E27FC236}">
                <a16:creationId xmlns="" xmlns:a16="http://schemas.microsoft.com/office/drawing/2014/main" id="{298BC91B-95EE-0103-72CC-0D8A5C9CB3FF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lowchart: Connector 36">
            <a:extLst>
              <a:ext uri="{FF2B5EF4-FFF2-40B4-BE49-F238E27FC236}">
                <a16:creationId xmlns="" xmlns:a16="http://schemas.microsoft.com/office/drawing/2014/main" id="{A8E4B382-2951-30BC-C125-C131D61ADDA6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9C4B947A-22FA-4C83-9112-55DAC83425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="" xmlns:a16="http://schemas.microsoft.com/office/drawing/2014/main" id="{2DEDEE5E-55B6-B6EC-3EF2-58E7F8B14FF5}"/>
              </a:ext>
            </a:extLst>
          </p:cNvPr>
          <p:cNvSpPr/>
          <p:nvPr/>
        </p:nvSpPr>
        <p:spPr>
          <a:xfrm>
            <a:off x="6105110" y="5805570"/>
            <a:ext cx="3561404" cy="67312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Sulitnya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menghitung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logistik</a:t>
            </a:r>
            <a:r>
              <a:rPr lang="en-US" sz="16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obat</a:t>
            </a:r>
            <a:endParaRPr lang="en-US" sz="16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lc="http://schemas.openxmlformats.org/drawingml/2006/lockedCanvas" xmlns:a16="http://schemas.microsoft.com/office/drawing/2014/main" xmlns="" id="{FA3F07C7-AF99-BF08-5A97-A9C95420BE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093" y="5687826"/>
            <a:ext cx="1462137" cy="8502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lc="http://schemas.openxmlformats.org/drawingml/2006/lockedCanvas" xmlns:a16="http://schemas.microsoft.com/office/drawing/2014/main" xmlns="" id="{7F667275-C20D-C1AE-C661-5DCA43E548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09" y="1916908"/>
            <a:ext cx="1427584" cy="9770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lc="http://schemas.openxmlformats.org/drawingml/2006/lockedCanvas" xmlns:a16="http://schemas.microsoft.com/office/drawing/2014/main" xmlns="" id="{5DD9D0CE-415F-C028-876D-AB28F9A5B5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38" y="3129589"/>
            <a:ext cx="1353211" cy="9028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lc="http://schemas.openxmlformats.org/drawingml/2006/lockedCanvas" xmlns:a16="http://schemas.microsoft.com/office/drawing/2014/main" xmlns="" id="{979D0ADE-DBD1-3792-D746-3FA7630F7D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116" y="4437659"/>
            <a:ext cx="1397627" cy="95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8400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14">
            <a:extLst>
              <a:ext uri="{FF2B5EF4-FFF2-40B4-BE49-F238E27FC236}">
                <a16:creationId xmlns="" xmlns:a16="http://schemas.microsoft.com/office/drawing/2014/main" id="{0909D361-8BEC-056B-26ED-CC13059B3518}"/>
              </a:ext>
            </a:extLst>
          </p:cNvPr>
          <p:cNvSpPr/>
          <p:nvPr/>
        </p:nvSpPr>
        <p:spPr>
          <a:xfrm>
            <a:off x="59756" y="4786399"/>
            <a:ext cx="1317708" cy="2051141"/>
          </a:xfrm>
          <a:custGeom>
            <a:avLst/>
            <a:gdLst/>
            <a:ahLst/>
            <a:cxnLst/>
            <a:rect l="l" t="t" r="r" b="b"/>
            <a:pathLst>
              <a:path w="2753175" h="4114800">
                <a:moveTo>
                  <a:pt x="0" y="0"/>
                </a:moveTo>
                <a:lnTo>
                  <a:pt x="2753175" y="0"/>
                </a:lnTo>
                <a:lnTo>
                  <a:pt x="27531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0" name="Rectangle: Rounded Corners 69">
            <a:hlinkClick r:id="rId4" action="ppaction://hlinksldjump"/>
            <a:extLst>
              <a:ext uri="{FF2B5EF4-FFF2-40B4-BE49-F238E27FC236}">
                <a16:creationId xmlns="" xmlns:a16="http://schemas.microsoft.com/office/drawing/2014/main" id="{B7D10113-BDF8-15FE-5D89-254F02270BFA}"/>
              </a:ext>
            </a:extLst>
          </p:cNvPr>
          <p:cNvSpPr/>
          <p:nvPr/>
        </p:nvSpPr>
        <p:spPr>
          <a:xfrm>
            <a:off x="4360587" y="1157311"/>
            <a:ext cx="2525103" cy="496002"/>
          </a:xfrm>
          <a:prstGeom prst="roundRect">
            <a:avLst/>
          </a:prstGeom>
          <a:solidFill>
            <a:srgbClr val="FFC000"/>
          </a:solidFill>
          <a:ln w="571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Tujuan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Penelitian</a:t>
            </a:r>
            <a:endParaRPr lang="en-ID" sz="20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Flowchart: Delay 7">
            <a:extLst>
              <a:ext uri="{FF2B5EF4-FFF2-40B4-BE49-F238E27FC236}">
                <a16:creationId xmlns="" xmlns:a16="http://schemas.microsoft.com/office/drawing/2014/main" id="{2460DF06-A99B-2045-42CD-AFA57935839F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="" xmlns:a16="http://schemas.microsoft.com/office/drawing/2014/main" id="{819FECD3-DDEF-3C9A-C4D8-AB71F598DE34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188B97CA-79EA-4605-BD7A-6EBF506F0B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6ADF6F-768A-59B0-794B-EE8473020F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966058"/>
            <a:ext cx="1190507" cy="11905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4C76B199-57F0-4525-C805-7FC16344E08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91" b="11080"/>
          <a:stretch/>
        </p:blipFill>
        <p:spPr>
          <a:xfrm>
            <a:off x="1697757" y="3599364"/>
            <a:ext cx="1457652" cy="10513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773135ED-C448-23D4-B3CB-4A10BFC0F2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599" y="4995354"/>
            <a:ext cx="1433876" cy="1433876"/>
          </a:xfrm>
          <a:prstGeom prst="rect">
            <a:avLst/>
          </a:prstGeom>
        </p:spPr>
      </p:pic>
      <p:sp>
        <p:nvSpPr>
          <p:cNvPr id="14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1895712" y="2089389"/>
            <a:ext cx="4398553" cy="9438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Meningkatkan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pelayanan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pada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puskesmas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15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3236538" y="3653140"/>
            <a:ext cx="5288586" cy="9438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Mempermudah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dalam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pengolahan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akses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data.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16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3849475" y="5240370"/>
            <a:ext cx="6470182" cy="9438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Meningkatkan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efektifitas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efisiensi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dalam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pengolahan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data.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782141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="" xmlns:a16="http://schemas.microsoft.com/office/drawing/2014/main" id="{E48B26B4-5457-61EA-E488-3683449397EB}"/>
              </a:ext>
            </a:extLst>
          </p:cNvPr>
          <p:cNvGrpSpPr/>
          <p:nvPr/>
        </p:nvGrpSpPr>
        <p:grpSpPr>
          <a:xfrm rot="3733867">
            <a:off x="-926565" y="2696596"/>
            <a:ext cx="5646981" cy="4249008"/>
            <a:chOff x="0" y="0"/>
            <a:chExt cx="16269610" cy="10892009"/>
          </a:xfrm>
        </p:grpSpPr>
        <p:sp>
          <p:nvSpPr>
            <p:cNvPr id="4" name="Freeform 5">
              <a:extLst>
                <a:ext uri="{FF2B5EF4-FFF2-40B4-BE49-F238E27FC236}">
                  <a16:creationId xmlns="" xmlns:a16="http://schemas.microsoft.com/office/drawing/2014/main" id="{DC107840-1300-E5FC-4EA1-7B2507AD54BF}"/>
                </a:ext>
              </a:extLst>
            </p:cNvPr>
            <p:cNvSpPr/>
            <p:nvPr/>
          </p:nvSpPr>
          <p:spPr>
            <a:xfrm>
              <a:off x="0" y="0"/>
              <a:ext cx="16269610" cy="10778617"/>
            </a:xfrm>
            <a:custGeom>
              <a:avLst/>
              <a:gdLst/>
              <a:ahLst/>
              <a:cxnLst/>
              <a:rect l="l" t="t" r="r" b="b"/>
              <a:pathLst>
                <a:path w="16269610" h="10778617">
                  <a:moveTo>
                    <a:pt x="0" y="0"/>
                  </a:moveTo>
                  <a:lnTo>
                    <a:pt x="16269610" y="0"/>
                  </a:lnTo>
                  <a:lnTo>
                    <a:pt x="16269610" y="10778617"/>
                  </a:lnTo>
                  <a:lnTo>
                    <a:pt x="0" y="1077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Freeform 6">
              <a:extLst>
                <a:ext uri="{FF2B5EF4-FFF2-40B4-BE49-F238E27FC236}">
                  <a16:creationId xmlns="" xmlns:a16="http://schemas.microsoft.com/office/drawing/2014/main" id="{1163EE43-1EA2-55A6-07E0-65DBECBD6D24}"/>
                </a:ext>
              </a:extLst>
            </p:cNvPr>
            <p:cNvSpPr/>
            <p:nvPr/>
          </p:nvSpPr>
          <p:spPr>
            <a:xfrm>
              <a:off x="2042892" y="2009289"/>
              <a:ext cx="13407879" cy="8882720"/>
            </a:xfrm>
            <a:custGeom>
              <a:avLst/>
              <a:gdLst/>
              <a:ahLst/>
              <a:cxnLst/>
              <a:rect l="l" t="t" r="r" b="b"/>
              <a:pathLst>
                <a:path w="13407879" h="8882720">
                  <a:moveTo>
                    <a:pt x="0" y="0"/>
                  </a:moveTo>
                  <a:lnTo>
                    <a:pt x="13407879" y="0"/>
                  </a:lnTo>
                  <a:lnTo>
                    <a:pt x="13407879" y="8882720"/>
                  </a:lnTo>
                  <a:lnTo>
                    <a:pt x="0" y="888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3FB2DB0D-1BBC-80CD-FD70-5D5382402FB2}"/>
              </a:ext>
            </a:extLst>
          </p:cNvPr>
          <p:cNvSpPr txBox="1"/>
          <p:nvPr/>
        </p:nvSpPr>
        <p:spPr>
          <a:xfrm>
            <a:off x="2262131" y="1377212"/>
            <a:ext cx="3294458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Metode</a:t>
            </a:r>
            <a:r>
              <a:rPr lang="en-US" sz="1600" b="1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Pengembangan</a:t>
            </a:r>
            <a:r>
              <a:rPr lang="en-US" sz="1600" b="1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Sistem</a:t>
            </a:r>
            <a:endParaRPr lang="en-US" sz="1600" b="1" dirty="0">
              <a:solidFill>
                <a:srgbClr val="FEEEEC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721956A3-5EF6-8B54-E148-40549498BCE0}"/>
              </a:ext>
            </a:extLst>
          </p:cNvPr>
          <p:cNvSpPr txBox="1"/>
          <p:nvPr/>
        </p:nvSpPr>
        <p:spPr>
          <a:xfrm>
            <a:off x="2113453" y="1828220"/>
            <a:ext cx="3302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latin typeface="Mulish" charset="0"/>
                <a:cs typeface="Aharoni" panose="02010803020104030203" pitchFamily="2" charset="-79"/>
              </a:rPr>
              <a:t>Waterfall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94645909-923A-9A7B-B5D0-958DC400E08B}"/>
              </a:ext>
            </a:extLst>
          </p:cNvPr>
          <p:cNvSpPr txBox="1"/>
          <p:nvPr/>
        </p:nvSpPr>
        <p:spPr>
          <a:xfrm>
            <a:off x="7581148" y="1317976"/>
            <a:ext cx="2175975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Objek</a:t>
            </a:r>
            <a:r>
              <a:rPr lang="en-US" sz="1600" b="1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Penelitian</a:t>
            </a:r>
            <a:endParaRPr lang="en-US" sz="1600" b="1" dirty="0">
              <a:solidFill>
                <a:srgbClr val="FEEEEC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31FF51B1-F139-EFC3-8510-C7B18E422352}"/>
              </a:ext>
            </a:extLst>
          </p:cNvPr>
          <p:cNvSpPr txBox="1"/>
          <p:nvPr/>
        </p:nvSpPr>
        <p:spPr>
          <a:xfrm>
            <a:off x="7524792" y="1715766"/>
            <a:ext cx="352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kern="0" dirty="0" smtClean="0">
                <a:latin typeface="Mulish" charset="0"/>
                <a:ea typeface="Times New Roman" panose="02020603050405020304" pitchFamily="18" charset="0"/>
              </a:rPr>
              <a:t>Data </a:t>
            </a:r>
            <a:r>
              <a:rPr lang="en-GB" kern="0" dirty="0" err="1" smtClean="0">
                <a:latin typeface="Mulish" charset="0"/>
                <a:ea typeface="Times New Roman" panose="02020603050405020304" pitchFamily="18" charset="0"/>
              </a:rPr>
              <a:t>riwayat</a:t>
            </a:r>
            <a:r>
              <a:rPr lang="en-GB" kern="0" dirty="0" smtClean="0"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GB" kern="0" dirty="0" err="1" smtClean="0">
                <a:latin typeface="Mulish" charset="0"/>
                <a:ea typeface="Times New Roman" panose="02020603050405020304" pitchFamily="18" charset="0"/>
              </a:rPr>
              <a:t>berobat</a:t>
            </a:r>
            <a:r>
              <a:rPr lang="en-GB" kern="0" dirty="0" smtClean="0"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GB" kern="0" dirty="0" err="1" smtClean="0">
                <a:latin typeface="Mulish" charset="0"/>
                <a:ea typeface="Times New Roman" panose="02020603050405020304" pitchFamily="18" charset="0"/>
              </a:rPr>
              <a:t>pada</a:t>
            </a:r>
            <a:r>
              <a:rPr lang="en-GB" kern="0" dirty="0" smtClean="0"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GB" kern="0" dirty="0" err="1" smtClean="0">
                <a:latin typeface="Mulish" charset="0"/>
                <a:ea typeface="Times New Roman" panose="02020603050405020304" pitchFamily="18" charset="0"/>
              </a:rPr>
              <a:t>puskesmas</a:t>
            </a:r>
            <a:r>
              <a:rPr lang="en-GB" kern="0" dirty="0" smtClean="0"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GB" kern="0" dirty="0" err="1" smtClean="0">
                <a:latin typeface="Mulish" charset="0"/>
                <a:ea typeface="Times New Roman" panose="02020603050405020304" pitchFamily="18" charset="0"/>
              </a:rPr>
              <a:t>siulak</a:t>
            </a:r>
            <a:r>
              <a:rPr lang="en-GB" kern="0" dirty="0" smtClean="0"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GB" kern="0" dirty="0" err="1" smtClean="0">
                <a:latin typeface="Mulish" charset="0"/>
                <a:ea typeface="Times New Roman" panose="02020603050405020304" pitchFamily="18" charset="0"/>
              </a:rPr>
              <a:t>mukai</a:t>
            </a:r>
            <a:endParaRPr lang="en-US" sz="1600" b="1" dirty="0"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1C97597A-2894-5E30-9E7F-CAD6E991083C}"/>
              </a:ext>
            </a:extLst>
          </p:cNvPr>
          <p:cNvSpPr txBox="1"/>
          <p:nvPr/>
        </p:nvSpPr>
        <p:spPr>
          <a:xfrm>
            <a:off x="2283143" y="2916903"/>
            <a:ext cx="2502772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Subjek</a:t>
            </a:r>
            <a:r>
              <a:rPr lang="en-US" sz="1600" b="1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  </a:t>
            </a: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Penelitian</a:t>
            </a:r>
            <a:endParaRPr lang="en-US" sz="1600" b="1" dirty="0">
              <a:solidFill>
                <a:srgbClr val="FEEEEC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E80A720-495C-68CC-69B4-843587D2FE00}"/>
              </a:ext>
            </a:extLst>
          </p:cNvPr>
          <p:cNvSpPr txBox="1"/>
          <p:nvPr/>
        </p:nvSpPr>
        <p:spPr>
          <a:xfrm>
            <a:off x="2195119" y="3283309"/>
            <a:ext cx="2811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 err="1">
                <a:latin typeface="Mulish" charset="0"/>
                <a:ea typeface="Times New Roman" panose="02020603050405020304" pitchFamily="18" charset="0"/>
              </a:rPr>
              <a:t>P</a:t>
            </a:r>
            <a:r>
              <a:rPr lang="en-US" sz="1800" kern="0" dirty="0" err="1">
                <a:effectLst/>
                <a:latin typeface="Mulish" charset="0"/>
                <a:ea typeface="Times New Roman" panose="02020603050405020304" pitchFamily="18" charset="0"/>
              </a:rPr>
              <a:t>etugas</a:t>
            </a:r>
            <a:r>
              <a:rPr lang="en-US" sz="1800" kern="0" dirty="0">
                <a:effectLst/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US" sz="1800" kern="0" dirty="0" err="1" smtClean="0">
                <a:effectLst/>
                <a:latin typeface="Mulish" charset="0"/>
                <a:ea typeface="Times New Roman" panose="02020603050405020304" pitchFamily="18" charset="0"/>
              </a:rPr>
              <a:t>pendaftaran</a:t>
            </a:r>
            <a:r>
              <a:rPr lang="en-US" sz="1800" kern="0" dirty="0" smtClean="0">
                <a:effectLst/>
                <a:latin typeface="Mulish" charset="0"/>
                <a:ea typeface="Times New Roman" panose="02020603050405020304" pitchFamily="18" charset="0"/>
              </a:rPr>
              <a:t>, </a:t>
            </a:r>
            <a:r>
              <a:rPr lang="en-US" sz="1800" kern="0" dirty="0" err="1" smtClean="0">
                <a:effectLst/>
                <a:latin typeface="Mulish" charset="0"/>
                <a:ea typeface="Times New Roman" panose="02020603050405020304" pitchFamily="18" charset="0"/>
              </a:rPr>
              <a:t>poli</a:t>
            </a:r>
            <a:r>
              <a:rPr lang="en-US" sz="1800" kern="0" dirty="0" smtClean="0">
                <a:effectLst/>
                <a:latin typeface="Mulish" charset="0"/>
                <a:ea typeface="Times New Roman" panose="02020603050405020304" pitchFamily="18" charset="0"/>
              </a:rPr>
              <a:t>, </a:t>
            </a:r>
            <a:r>
              <a:rPr lang="en-US" sz="1800" kern="0" dirty="0" err="1" smtClean="0">
                <a:effectLst/>
                <a:latin typeface="Mulish" charset="0"/>
                <a:ea typeface="Times New Roman" panose="02020603050405020304" pitchFamily="18" charset="0"/>
              </a:rPr>
              <a:t>dan</a:t>
            </a:r>
            <a:r>
              <a:rPr lang="en-US" sz="1800" kern="0" dirty="0" smtClean="0">
                <a:effectLst/>
                <a:latin typeface="Mulish" charset="0"/>
                <a:ea typeface="Times New Roman" panose="02020603050405020304" pitchFamily="18" charset="0"/>
              </a:rPr>
              <a:t> </a:t>
            </a:r>
            <a:r>
              <a:rPr lang="en-US" sz="1800" kern="0" dirty="0" err="1" smtClean="0">
                <a:effectLst/>
                <a:latin typeface="Mulish" charset="0"/>
                <a:ea typeface="Times New Roman" panose="02020603050405020304" pitchFamily="18" charset="0"/>
              </a:rPr>
              <a:t>apotek</a:t>
            </a:r>
            <a:endParaRPr lang="en-US" sz="1600" b="1" dirty="0"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18" name="Flowchart: Delay 17">
            <a:extLst>
              <a:ext uri="{FF2B5EF4-FFF2-40B4-BE49-F238E27FC236}">
                <a16:creationId xmlns="" xmlns:a16="http://schemas.microsoft.com/office/drawing/2014/main" id="{A88FDB48-CE3B-7F76-578C-A338A48C8C5D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="" xmlns:a16="http://schemas.microsoft.com/office/drawing/2014/main" id="{84793501-2A42-E297-16F3-FB5AAC39B3D9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="" xmlns:a16="http://schemas.microsoft.com/office/drawing/2014/main" id="{F605A3C5-B9C9-4CD0-9D48-CA83053FB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="" xmlns:a16="http://schemas.microsoft.com/office/drawing/2014/main" id="{39082F04-2E79-5492-6B9B-5DFDBFF11A28}"/>
              </a:ext>
            </a:extLst>
          </p:cNvPr>
          <p:cNvSpPr/>
          <p:nvPr/>
        </p:nvSpPr>
        <p:spPr>
          <a:xfrm>
            <a:off x="6552693" y="2808820"/>
            <a:ext cx="744458" cy="727023"/>
          </a:xfrm>
          <a:prstGeom prst="ellipse">
            <a:avLst/>
          </a:prstGeom>
          <a:solidFill>
            <a:srgbClr val="FFC000"/>
          </a:solidFill>
          <a:ln w="76200"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16F76E68-71B3-ACFC-6B92-D089E9B0E45E}"/>
              </a:ext>
            </a:extLst>
          </p:cNvPr>
          <p:cNvSpPr txBox="1"/>
          <p:nvPr/>
        </p:nvSpPr>
        <p:spPr>
          <a:xfrm>
            <a:off x="7581148" y="2947964"/>
            <a:ext cx="2175975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Lokasi  </a:t>
            </a:r>
            <a:r>
              <a:rPr lang="en-US" sz="1600" b="1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Penelitian</a:t>
            </a:r>
            <a:endParaRPr lang="en-US" sz="1600" b="1" dirty="0">
              <a:solidFill>
                <a:srgbClr val="FEEEEC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52716BDE-42DC-26C9-1358-9A35E9557AB3}"/>
              </a:ext>
            </a:extLst>
          </p:cNvPr>
          <p:cNvSpPr txBox="1"/>
          <p:nvPr/>
        </p:nvSpPr>
        <p:spPr>
          <a:xfrm>
            <a:off x="7524791" y="3331899"/>
            <a:ext cx="3920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kern="0" dirty="0">
                <a:effectLst/>
                <a:latin typeface="Mulish" charset="0"/>
                <a:ea typeface="Times New Roman" panose="02020603050405020304" pitchFamily="18" charset="0"/>
              </a:rPr>
              <a:t>Badan </a:t>
            </a:r>
            <a:r>
              <a:rPr lang="en-GB" sz="1800" kern="0" dirty="0" err="1">
                <a:effectLst/>
                <a:latin typeface="Mulish" charset="0"/>
                <a:ea typeface="Times New Roman" panose="02020603050405020304" pitchFamily="18" charset="0"/>
              </a:rPr>
              <a:t>Keuangan</a:t>
            </a:r>
            <a:r>
              <a:rPr lang="en-GB" sz="1800" kern="0" dirty="0">
                <a:effectLst/>
                <a:latin typeface="Mulish" charset="0"/>
                <a:ea typeface="Times New Roman" panose="02020603050405020304" pitchFamily="18" charset="0"/>
              </a:rPr>
              <a:t> Kota </a:t>
            </a:r>
            <a:r>
              <a:rPr lang="en-GB" sz="1800" kern="0" dirty="0" err="1">
                <a:effectLst/>
                <a:latin typeface="Mulish" charset="0"/>
                <a:ea typeface="Times New Roman" panose="02020603050405020304" pitchFamily="18" charset="0"/>
              </a:rPr>
              <a:t>Bukittinggi</a:t>
            </a:r>
            <a:endParaRPr lang="en-US" sz="1600" b="1" dirty="0"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5FC2EC76-A2B5-BCD5-17BB-A7D72FCC44BB}"/>
              </a:ext>
            </a:extLst>
          </p:cNvPr>
          <p:cNvSpPr txBox="1"/>
          <p:nvPr/>
        </p:nvSpPr>
        <p:spPr>
          <a:xfrm>
            <a:off x="3735624" y="4480401"/>
            <a:ext cx="4720751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lang="en-US" sz="2000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Teknik </a:t>
            </a:r>
            <a:r>
              <a:rPr lang="en-US" sz="2000" dirty="0" err="1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Pengumpulan</a:t>
            </a:r>
            <a:r>
              <a:rPr lang="en-US" sz="2000" dirty="0">
                <a:solidFill>
                  <a:srgbClr val="FEEEEC"/>
                </a:solidFill>
                <a:latin typeface="Mulish" charset="0"/>
                <a:cs typeface="Aharoni" panose="02010803020104030203" pitchFamily="2" charset="-79"/>
              </a:rPr>
              <a:t> Data</a:t>
            </a:r>
          </a:p>
        </p:txBody>
      </p:sp>
      <p:pic>
        <p:nvPicPr>
          <p:cNvPr id="39" name="Picture 8">
            <a:extLst>
              <a:ext uri="{FF2B5EF4-FFF2-40B4-BE49-F238E27FC236}">
                <a16:creationId xmlns="" xmlns:a16="http://schemas.microsoft.com/office/drawing/2014/main" id="{A3191445-7E41-3635-3557-212F1F3C7D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3105607" y="4220739"/>
            <a:ext cx="833630" cy="937620"/>
          </a:xfrm>
          <a:prstGeom prst="rect">
            <a:avLst/>
          </a:prstGeom>
        </p:spPr>
      </p:pic>
      <p:pic>
        <p:nvPicPr>
          <p:cNvPr id="46" name="Picture 2" descr="Menulis Puisi Berdasarkan Catatan Harian - PELAJARAN BAHASA INDONESIA DI  JARI KAMU">
            <a:extLst>
              <a:ext uri="{FF2B5EF4-FFF2-40B4-BE49-F238E27FC236}">
                <a16:creationId xmlns="" xmlns:a16="http://schemas.microsoft.com/office/drawing/2014/main" id="{CC687FE5-4758-81CC-DB0E-E9B1E6DBD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750" b="94250" l="4747" r="97785">
                        <a14:foregroundMark x1="4747" y1="30500" x2="8228" y2="26500"/>
                        <a14:foregroundMark x1="24367" y1="63000" x2="34494" y2="91000"/>
                        <a14:foregroundMark x1="34494" y1="91000" x2="51266" y2="91750"/>
                        <a14:foregroundMark x1="51266" y1="91750" x2="90823" y2="75500"/>
                        <a14:foregroundMark x1="90823" y1="75500" x2="93354" y2="62250"/>
                        <a14:foregroundMark x1="93354" y1="62250" x2="92405" y2="59500"/>
                        <a14:foregroundMark x1="90823" y1="80250" x2="95886" y2="72500"/>
                        <a14:foregroundMark x1="93354" y1="78500" x2="97785" y2="77250"/>
                        <a14:foregroundMark x1="23734" y1="62500" x2="18038" y2="50750"/>
                        <a14:foregroundMark x1="18038" y1="50750" x2="18038" y2="49250"/>
                        <a14:foregroundMark x1="74367" y1="41500" x2="80063" y2="27000"/>
                        <a14:foregroundMark x1="84177" y1="11500" x2="67405" y2="52500"/>
                        <a14:foregroundMark x1="79747" y1="9500" x2="80063" y2="6750"/>
                        <a14:foregroundMark x1="82278" y1="7250" x2="76266" y2="4750"/>
                        <a14:foregroundMark x1="82278" y1="5250" x2="83228" y2="9500"/>
                        <a14:foregroundMark x1="83228" y1="11000" x2="85127" y2="33500"/>
                        <a14:foregroundMark x1="83544" y1="30000" x2="82595" y2="17000"/>
                        <a14:foregroundMark x1="82595" y1="17000" x2="85127" y2="10000"/>
                        <a14:foregroundMark x1="85443" y1="9500" x2="86392" y2="24250"/>
                        <a14:foregroundMark x1="86392" y1="24250" x2="81646" y2="30500"/>
                        <a14:foregroundMark x1="85443" y1="20000" x2="88608" y2="12500"/>
                        <a14:foregroundMark x1="35127" y1="92750" x2="31646" y2="94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06" y="5384430"/>
            <a:ext cx="1117083" cy="118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962387A4-44AF-BEC3-BE87-602166A58634}"/>
              </a:ext>
            </a:extLst>
          </p:cNvPr>
          <p:cNvSpPr txBox="1"/>
          <p:nvPr/>
        </p:nvSpPr>
        <p:spPr>
          <a:xfrm>
            <a:off x="1915879" y="5808864"/>
            <a:ext cx="1912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ulish" charset="0"/>
                <a:cs typeface="Aharoni" panose="02010803020104030203" pitchFamily="2" charset="-79"/>
              </a:rPr>
              <a:t>Observasi</a:t>
            </a:r>
            <a:endParaRPr lang="en-US" sz="2000" dirty="0">
              <a:latin typeface="Mulish" charset="0"/>
              <a:cs typeface="Aharoni" panose="02010803020104030203" pitchFamily="2" charset="-79"/>
            </a:endParaRPr>
          </a:p>
        </p:txBody>
      </p:sp>
      <p:pic>
        <p:nvPicPr>
          <p:cNvPr id="48" name="Picture 4" descr="Wawancara Kerja, Wawancara, Rekrutmen gambar png">
            <a:extLst>
              <a:ext uri="{FF2B5EF4-FFF2-40B4-BE49-F238E27FC236}">
                <a16:creationId xmlns="" xmlns:a16="http://schemas.microsoft.com/office/drawing/2014/main" id="{FCD32B12-3D4E-C0C3-6355-FCED34593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63556" y1="47692" x2="57444" y2="43462"/>
                        <a14:foregroundMark x1="57444" y1="43462" x2="57667" y2="42500"/>
                        <a14:foregroundMark x1="57889" y1="13462" x2="65889" y2="13846"/>
                        <a14:foregroundMark x1="65889" y1="13846" x2="67000" y2="144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372" y="5443284"/>
            <a:ext cx="2374004" cy="11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9460780-E415-628E-6D13-0486958C4490}"/>
              </a:ext>
            </a:extLst>
          </p:cNvPr>
          <p:cNvSpPr txBox="1"/>
          <p:nvPr/>
        </p:nvSpPr>
        <p:spPr>
          <a:xfrm>
            <a:off x="5903215" y="5815628"/>
            <a:ext cx="224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ulish" charset="0"/>
                <a:cs typeface="Aharoni" panose="02010803020104030203" pitchFamily="2" charset="-79"/>
              </a:rPr>
              <a:t>Wawancara</a:t>
            </a:r>
            <a:endParaRPr lang="en-US" sz="2000" dirty="0"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4132B1F9-AEED-3AF4-8A20-3E4BC79A1713}"/>
              </a:ext>
            </a:extLst>
          </p:cNvPr>
          <p:cNvSpPr txBox="1"/>
          <p:nvPr/>
        </p:nvSpPr>
        <p:spPr>
          <a:xfrm>
            <a:off x="9582760" y="5774461"/>
            <a:ext cx="2924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ulish" charset="0"/>
                <a:cs typeface="Aharoni" panose="02010803020104030203" pitchFamily="2" charset="-79"/>
              </a:rPr>
              <a:t>Analisis</a:t>
            </a:r>
            <a:r>
              <a:rPr lang="en-US" sz="2000" dirty="0">
                <a:latin typeface="Mulish" charset="0"/>
                <a:cs typeface="Aharoni" panose="02010803020104030203" pitchFamily="2" charset="-79"/>
              </a:rPr>
              <a:t> </a:t>
            </a:r>
            <a:r>
              <a:rPr lang="en-US" sz="2000" dirty="0" err="1">
                <a:latin typeface="Mulish" charset="0"/>
                <a:cs typeface="Aharoni" panose="02010803020104030203" pitchFamily="2" charset="-79"/>
              </a:rPr>
              <a:t>Dokumen</a:t>
            </a:r>
            <a:endParaRPr lang="en-US" sz="2000" dirty="0">
              <a:latin typeface="Mulish" charset="0"/>
              <a:cs typeface="Aharoni" panose="02010803020104030203" pitchFamily="2" charset="-79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="" xmlns:a16="http://schemas.microsoft.com/office/drawing/2014/main" id="{6CD9CB0A-6961-38DF-C24B-30DD9915A5A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774" y="5426315"/>
            <a:ext cx="914400" cy="1096402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="" xmlns:a16="http://schemas.microsoft.com/office/drawing/2014/main" id="{FCFEE856-502E-BB50-3454-D8E836A00730}"/>
              </a:ext>
            </a:extLst>
          </p:cNvPr>
          <p:cNvSpPr/>
          <p:nvPr/>
        </p:nvSpPr>
        <p:spPr>
          <a:xfrm>
            <a:off x="6493318" y="1223619"/>
            <a:ext cx="744458" cy="727023"/>
          </a:xfrm>
          <a:prstGeom prst="ellipse">
            <a:avLst/>
          </a:prstGeom>
          <a:solidFill>
            <a:srgbClr val="FFC000"/>
          </a:solidFill>
          <a:ln w="76200"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D272BFE0-81B2-8E9F-E314-4D42CB4ABFCE}"/>
              </a:ext>
            </a:extLst>
          </p:cNvPr>
          <p:cNvSpPr/>
          <p:nvPr/>
        </p:nvSpPr>
        <p:spPr>
          <a:xfrm>
            <a:off x="1314422" y="1259657"/>
            <a:ext cx="744458" cy="727023"/>
          </a:xfrm>
          <a:prstGeom prst="ellipse">
            <a:avLst/>
          </a:prstGeom>
          <a:solidFill>
            <a:srgbClr val="FFC000"/>
          </a:solidFill>
          <a:ln w="76200"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CDE8599A-8D33-C3C5-750A-D7AAF0C4C4A4}"/>
              </a:ext>
            </a:extLst>
          </p:cNvPr>
          <p:cNvSpPr/>
          <p:nvPr/>
        </p:nvSpPr>
        <p:spPr>
          <a:xfrm>
            <a:off x="1300148" y="2773195"/>
            <a:ext cx="744458" cy="727023"/>
          </a:xfrm>
          <a:prstGeom prst="ellipse">
            <a:avLst/>
          </a:prstGeom>
          <a:solidFill>
            <a:srgbClr val="FFC000"/>
          </a:solidFill>
          <a:ln w="76200"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2603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E4B54C2-6FA6-B284-2ECA-9BEA3493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4">
            <a:extLst>
              <a:ext uri="{FF2B5EF4-FFF2-40B4-BE49-F238E27FC236}">
                <a16:creationId xmlns="" xmlns:a16="http://schemas.microsoft.com/office/drawing/2014/main" id="{9E9E5E61-6414-DBB4-D4B3-4A46545D57AF}"/>
              </a:ext>
            </a:extLst>
          </p:cNvPr>
          <p:cNvGrpSpPr/>
          <p:nvPr/>
        </p:nvGrpSpPr>
        <p:grpSpPr>
          <a:xfrm rot="3733867">
            <a:off x="-926565" y="2696596"/>
            <a:ext cx="5646981" cy="4249008"/>
            <a:chOff x="0" y="0"/>
            <a:chExt cx="16269610" cy="10892009"/>
          </a:xfrm>
        </p:grpSpPr>
        <p:sp>
          <p:nvSpPr>
            <p:cNvPr id="26" name="Freeform 5">
              <a:extLst>
                <a:ext uri="{FF2B5EF4-FFF2-40B4-BE49-F238E27FC236}">
                  <a16:creationId xmlns="" xmlns:a16="http://schemas.microsoft.com/office/drawing/2014/main" id="{14E1644D-C001-75D2-BFBA-7E7CEA59C844}"/>
                </a:ext>
              </a:extLst>
            </p:cNvPr>
            <p:cNvSpPr/>
            <p:nvPr/>
          </p:nvSpPr>
          <p:spPr>
            <a:xfrm>
              <a:off x="0" y="0"/>
              <a:ext cx="16269610" cy="10778617"/>
            </a:xfrm>
            <a:custGeom>
              <a:avLst/>
              <a:gdLst/>
              <a:ahLst/>
              <a:cxnLst/>
              <a:rect l="l" t="t" r="r" b="b"/>
              <a:pathLst>
                <a:path w="16269610" h="10778617">
                  <a:moveTo>
                    <a:pt x="0" y="0"/>
                  </a:moveTo>
                  <a:lnTo>
                    <a:pt x="16269610" y="0"/>
                  </a:lnTo>
                  <a:lnTo>
                    <a:pt x="16269610" y="10778617"/>
                  </a:lnTo>
                  <a:lnTo>
                    <a:pt x="0" y="1077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" name="Freeform 6">
              <a:extLst>
                <a:ext uri="{FF2B5EF4-FFF2-40B4-BE49-F238E27FC236}">
                  <a16:creationId xmlns="" xmlns:a16="http://schemas.microsoft.com/office/drawing/2014/main" id="{DF194ECB-498E-5CEF-F951-968E00438372}"/>
                </a:ext>
              </a:extLst>
            </p:cNvPr>
            <p:cNvSpPr/>
            <p:nvPr/>
          </p:nvSpPr>
          <p:spPr>
            <a:xfrm>
              <a:off x="2042892" y="2009289"/>
              <a:ext cx="13407879" cy="8882720"/>
            </a:xfrm>
            <a:custGeom>
              <a:avLst/>
              <a:gdLst/>
              <a:ahLst/>
              <a:cxnLst/>
              <a:rect l="l" t="t" r="r" b="b"/>
              <a:pathLst>
                <a:path w="13407879" h="8882720">
                  <a:moveTo>
                    <a:pt x="0" y="0"/>
                  </a:moveTo>
                  <a:lnTo>
                    <a:pt x="13407879" y="0"/>
                  </a:lnTo>
                  <a:lnTo>
                    <a:pt x="13407879" y="8882720"/>
                  </a:lnTo>
                  <a:lnTo>
                    <a:pt x="0" y="888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8" name="Group 7">
            <a:extLst>
              <a:ext uri="{FF2B5EF4-FFF2-40B4-BE49-F238E27FC236}">
                <a16:creationId xmlns="" xmlns:a16="http://schemas.microsoft.com/office/drawing/2014/main" id="{A134BFD5-FB73-5835-0DF7-24CA2AAD6A4C}"/>
              </a:ext>
            </a:extLst>
          </p:cNvPr>
          <p:cNvGrpSpPr/>
          <p:nvPr/>
        </p:nvGrpSpPr>
        <p:grpSpPr>
          <a:xfrm>
            <a:off x="-1214901" y="5525687"/>
            <a:ext cx="7113359" cy="2069175"/>
            <a:chOff x="0" y="0"/>
            <a:chExt cx="1362556" cy="396348"/>
          </a:xfrm>
          <a:solidFill>
            <a:srgbClr val="313D4C"/>
          </a:solidFill>
        </p:grpSpPr>
        <p:sp>
          <p:nvSpPr>
            <p:cNvPr id="29" name="Freeform 8">
              <a:extLst>
                <a:ext uri="{FF2B5EF4-FFF2-40B4-BE49-F238E27FC236}">
                  <a16:creationId xmlns="" xmlns:a16="http://schemas.microsoft.com/office/drawing/2014/main" id="{E97B12A2-EF78-F377-9E5A-BC739F6DFCAB}"/>
                </a:ext>
              </a:extLst>
            </p:cNvPr>
            <p:cNvSpPr/>
            <p:nvPr/>
          </p:nvSpPr>
          <p:spPr>
            <a:xfrm>
              <a:off x="0" y="0"/>
              <a:ext cx="1362556" cy="396348"/>
            </a:xfrm>
            <a:custGeom>
              <a:avLst/>
              <a:gdLst/>
              <a:ahLst/>
              <a:cxnLst/>
              <a:rect l="l" t="t" r="r" b="b"/>
              <a:pathLst>
                <a:path w="1362556" h="396348">
                  <a:moveTo>
                    <a:pt x="0" y="0"/>
                  </a:moveTo>
                  <a:lnTo>
                    <a:pt x="1362556" y="0"/>
                  </a:lnTo>
                  <a:lnTo>
                    <a:pt x="1362556" y="396348"/>
                  </a:lnTo>
                  <a:lnTo>
                    <a:pt x="0" y="396348"/>
                  </a:lnTo>
                  <a:close/>
                </a:path>
              </a:pathLst>
            </a:custGeom>
            <a:grpFill/>
            <a:ln>
              <a:solidFill>
                <a:srgbClr val="313D4C"/>
              </a:solidFill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85F77AAE-5917-8A23-4351-96B2A25BF419}"/>
              </a:ext>
            </a:extLst>
          </p:cNvPr>
          <p:cNvSpPr/>
          <p:nvPr/>
        </p:nvSpPr>
        <p:spPr>
          <a:xfrm>
            <a:off x="1807536" y="1094852"/>
            <a:ext cx="10165208" cy="5193653"/>
          </a:xfrm>
          <a:prstGeom prst="roundRect">
            <a:avLst>
              <a:gd name="adj" fmla="val 614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hlinkClick r:id="rId4" action="ppaction://hlinksldjump"/>
            <a:extLst>
              <a:ext uri="{FF2B5EF4-FFF2-40B4-BE49-F238E27FC236}">
                <a16:creationId xmlns="" xmlns:a16="http://schemas.microsoft.com/office/drawing/2014/main" id="{233CF85A-E40B-6AD8-DF02-B6927201A446}"/>
              </a:ext>
            </a:extLst>
          </p:cNvPr>
          <p:cNvSpPr/>
          <p:nvPr/>
        </p:nvSpPr>
        <p:spPr>
          <a:xfrm>
            <a:off x="5546531" y="794126"/>
            <a:ext cx="2525103" cy="496002"/>
          </a:xfrm>
          <a:prstGeom prst="roundRect">
            <a:avLst/>
          </a:prstGeom>
          <a:solidFill>
            <a:srgbClr val="FFC000"/>
          </a:solidFill>
          <a:ln w="571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Analisa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ID" sz="20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Freeform 20">
            <a:extLst>
              <a:ext uri="{FF2B5EF4-FFF2-40B4-BE49-F238E27FC236}">
                <a16:creationId xmlns="" xmlns:a16="http://schemas.microsoft.com/office/drawing/2014/main" id="{2E607B7D-4C6D-E082-7176-205AF52D94D6}"/>
              </a:ext>
            </a:extLst>
          </p:cNvPr>
          <p:cNvSpPr/>
          <p:nvPr/>
        </p:nvSpPr>
        <p:spPr>
          <a:xfrm rot="17609491">
            <a:off x="152572" y="5149473"/>
            <a:ext cx="1385721" cy="1776419"/>
          </a:xfrm>
          <a:custGeom>
            <a:avLst/>
            <a:gdLst/>
            <a:ahLst/>
            <a:cxnLst/>
            <a:rect l="l" t="t" r="r" b="b"/>
            <a:pathLst>
              <a:path w="4135477" h="4114800">
                <a:moveTo>
                  <a:pt x="0" y="0"/>
                </a:moveTo>
                <a:lnTo>
                  <a:pt x="4135478" y="0"/>
                </a:lnTo>
                <a:lnTo>
                  <a:pt x="4135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10">
            <a:extLst>
              <a:ext uri="{FF2B5EF4-FFF2-40B4-BE49-F238E27FC236}">
                <a16:creationId xmlns="" xmlns:a16="http://schemas.microsoft.com/office/drawing/2014/main" id="{FB068EF3-9B57-FC25-5453-7CDE6069E3FD}"/>
              </a:ext>
            </a:extLst>
          </p:cNvPr>
          <p:cNvSpPr/>
          <p:nvPr/>
        </p:nvSpPr>
        <p:spPr>
          <a:xfrm>
            <a:off x="980304" y="3883614"/>
            <a:ext cx="2787638" cy="2985368"/>
          </a:xfrm>
          <a:custGeom>
            <a:avLst/>
            <a:gdLst/>
            <a:ahLst/>
            <a:cxnLst/>
            <a:rect l="l" t="t" r="r" b="b"/>
            <a:pathLst>
              <a:path w="3598580" h="4114800">
                <a:moveTo>
                  <a:pt x="0" y="0"/>
                </a:moveTo>
                <a:lnTo>
                  <a:pt x="3598580" y="0"/>
                </a:lnTo>
                <a:lnTo>
                  <a:pt x="3598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B85052A-772A-2878-02EA-700401454E85}"/>
              </a:ext>
            </a:extLst>
          </p:cNvPr>
          <p:cNvSpPr txBox="1"/>
          <p:nvPr/>
        </p:nvSpPr>
        <p:spPr>
          <a:xfrm>
            <a:off x="1936210" y="1347826"/>
            <a:ext cx="978517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just">
              <a:lnSpc>
                <a:spcPct val="150000"/>
              </a:lnSpc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Flowchart: Delay 6">
            <a:extLst>
              <a:ext uri="{FF2B5EF4-FFF2-40B4-BE49-F238E27FC236}">
                <a16:creationId xmlns="" xmlns:a16="http://schemas.microsoft.com/office/drawing/2014/main" id="{2A8E0825-4B86-BF82-A7D2-3EDD43AB1BB8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="" xmlns:a16="http://schemas.microsoft.com/office/drawing/2014/main" id="{59AE433E-F4A6-B6DC-7239-B51362376BD3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77D46084-A568-1ECF-AD98-72F0844731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E11B8001-7424-1DD1-D4AD-3E972F4094BB}"/>
              </a:ext>
            </a:extLst>
          </p:cNvPr>
          <p:cNvSpPr/>
          <p:nvPr/>
        </p:nvSpPr>
        <p:spPr>
          <a:xfrm>
            <a:off x="5265285" y="2449189"/>
            <a:ext cx="5590184" cy="94715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Sistem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yang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belum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terkomputerisasi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dapat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meningkatkan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risiko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kesalahan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dan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menghambat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efisiensi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kerja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. </a:t>
            </a:r>
            <a:endParaRPr lang="en-US" b="1" dirty="0">
              <a:solidFill>
                <a:schemeClr val="tx1"/>
              </a:solidFill>
              <a:latin typeface="Mulish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C88BB473-97CB-AFD5-50D9-35006DB85C29}"/>
              </a:ext>
            </a:extLst>
          </p:cNvPr>
          <p:cNvSpPr/>
          <p:nvPr/>
        </p:nvSpPr>
        <p:spPr>
          <a:xfrm>
            <a:off x="5276542" y="3599847"/>
            <a:ext cx="5590184" cy="118719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Pencatatan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manual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membuat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petugas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sulit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untuk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merekap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data,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mengakses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riwayat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berobat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, 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dan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sulit</a:t>
            </a:r>
            <a:r>
              <a:rPr lang="en-US" b="1" i="0" dirty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dalam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menghitung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logistik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 </a:t>
            </a:r>
            <a:r>
              <a:rPr lang="en-US" b="1" i="0" dirty="0" err="1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obat</a:t>
            </a:r>
            <a:r>
              <a:rPr lang="en-US" b="1" i="0" dirty="0" smtClean="0">
                <a:solidFill>
                  <a:schemeClr val="tx1"/>
                </a:solidFill>
                <a:effectLst/>
                <a:latin typeface="Mulish" charset="0"/>
                <a:ea typeface="Segoe UI Symbol" pitchFamily="34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tx1"/>
              </a:solidFill>
              <a:latin typeface="Mulish" charset="0"/>
              <a:ea typeface="Segoe UI Symbol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33354E5-82B0-B51F-A811-274CE4DF777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6"/>
          <a:stretch/>
        </p:blipFill>
        <p:spPr>
          <a:xfrm>
            <a:off x="2717416" y="2403605"/>
            <a:ext cx="2276175" cy="239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6009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830513C-EAF8-70B1-9545-FE184587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4">
            <a:extLst>
              <a:ext uri="{FF2B5EF4-FFF2-40B4-BE49-F238E27FC236}">
                <a16:creationId xmlns="" xmlns:a16="http://schemas.microsoft.com/office/drawing/2014/main" id="{F131F0AB-9A9C-262E-C774-EC0B9CFD7C79}"/>
              </a:ext>
            </a:extLst>
          </p:cNvPr>
          <p:cNvGrpSpPr/>
          <p:nvPr/>
        </p:nvGrpSpPr>
        <p:grpSpPr>
          <a:xfrm rot="3733867">
            <a:off x="-926565" y="2696596"/>
            <a:ext cx="5646981" cy="4249008"/>
            <a:chOff x="0" y="0"/>
            <a:chExt cx="16269610" cy="10892009"/>
          </a:xfrm>
        </p:grpSpPr>
        <p:sp>
          <p:nvSpPr>
            <p:cNvPr id="26" name="Freeform 5">
              <a:extLst>
                <a:ext uri="{FF2B5EF4-FFF2-40B4-BE49-F238E27FC236}">
                  <a16:creationId xmlns="" xmlns:a16="http://schemas.microsoft.com/office/drawing/2014/main" id="{A51A90B4-5C65-A95F-D44B-51ABD6C42839}"/>
                </a:ext>
              </a:extLst>
            </p:cNvPr>
            <p:cNvSpPr/>
            <p:nvPr/>
          </p:nvSpPr>
          <p:spPr>
            <a:xfrm>
              <a:off x="0" y="0"/>
              <a:ext cx="16269610" cy="10778617"/>
            </a:xfrm>
            <a:custGeom>
              <a:avLst/>
              <a:gdLst/>
              <a:ahLst/>
              <a:cxnLst/>
              <a:rect l="l" t="t" r="r" b="b"/>
              <a:pathLst>
                <a:path w="16269610" h="10778617">
                  <a:moveTo>
                    <a:pt x="0" y="0"/>
                  </a:moveTo>
                  <a:lnTo>
                    <a:pt x="16269610" y="0"/>
                  </a:lnTo>
                  <a:lnTo>
                    <a:pt x="16269610" y="10778617"/>
                  </a:lnTo>
                  <a:lnTo>
                    <a:pt x="0" y="1077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" name="Freeform 6">
              <a:extLst>
                <a:ext uri="{FF2B5EF4-FFF2-40B4-BE49-F238E27FC236}">
                  <a16:creationId xmlns="" xmlns:a16="http://schemas.microsoft.com/office/drawing/2014/main" id="{7DDEC34F-4382-F5CC-0DF5-629D59B67A92}"/>
                </a:ext>
              </a:extLst>
            </p:cNvPr>
            <p:cNvSpPr/>
            <p:nvPr/>
          </p:nvSpPr>
          <p:spPr>
            <a:xfrm>
              <a:off x="2042892" y="2009289"/>
              <a:ext cx="13407879" cy="8882720"/>
            </a:xfrm>
            <a:custGeom>
              <a:avLst/>
              <a:gdLst/>
              <a:ahLst/>
              <a:cxnLst/>
              <a:rect l="l" t="t" r="r" b="b"/>
              <a:pathLst>
                <a:path w="13407879" h="8882720">
                  <a:moveTo>
                    <a:pt x="0" y="0"/>
                  </a:moveTo>
                  <a:lnTo>
                    <a:pt x="13407879" y="0"/>
                  </a:lnTo>
                  <a:lnTo>
                    <a:pt x="13407879" y="8882720"/>
                  </a:lnTo>
                  <a:lnTo>
                    <a:pt x="0" y="888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8" name="Group 7">
            <a:extLst>
              <a:ext uri="{FF2B5EF4-FFF2-40B4-BE49-F238E27FC236}">
                <a16:creationId xmlns="" xmlns:a16="http://schemas.microsoft.com/office/drawing/2014/main" id="{9DD0BBDF-68F7-D89B-7A2A-278E1FAB02E4}"/>
              </a:ext>
            </a:extLst>
          </p:cNvPr>
          <p:cNvGrpSpPr/>
          <p:nvPr/>
        </p:nvGrpSpPr>
        <p:grpSpPr>
          <a:xfrm>
            <a:off x="-1214901" y="5525687"/>
            <a:ext cx="7113359" cy="2069175"/>
            <a:chOff x="0" y="0"/>
            <a:chExt cx="1362556" cy="396348"/>
          </a:xfrm>
          <a:solidFill>
            <a:srgbClr val="313D4C"/>
          </a:solidFill>
        </p:grpSpPr>
        <p:sp>
          <p:nvSpPr>
            <p:cNvPr id="29" name="Freeform 8">
              <a:extLst>
                <a:ext uri="{FF2B5EF4-FFF2-40B4-BE49-F238E27FC236}">
                  <a16:creationId xmlns="" xmlns:a16="http://schemas.microsoft.com/office/drawing/2014/main" id="{06E61A35-86AD-FC1A-C02C-FEA23F00C754}"/>
                </a:ext>
              </a:extLst>
            </p:cNvPr>
            <p:cNvSpPr/>
            <p:nvPr/>
          </p:nvSpPr>
          <p:spPr>
            <a:xfrm>
              <a:off x="0" y="0"/>
              <a:ext cx="1362556" cy="396348"/>
            </a:xfrm>
            <a:custGeom>
              <a:avLst/>
              <a:gdLst/>
              <a:ahLst/>
              <a:cxnLst/>
              <a:rect l="l" t="t" r="r" b="b"/>
              <a:pathLst>
                <a:path w="1362556" h="396348">
                  <a:moveTo>
                    <a:pt x="0" y="0"/>
                  </a:moveTo>
                  <a:lnTo>
                    <a:pt x="1362556" y="0"/>
                  </a:lnTo>
                  <a:lnTo>
                    <a:pt x="1362556" y="396348"/>
                  </a:lnTo>
                  <a:lnTo>
                    <a:pt x="0" y="396348"/>
                  </a:lnTo>
                  <a:close/>
                </a:path>
              </a:pathLst>
            </a:custGeom>
            <a:grpFill/>
            <a:ln>
              <a:solidFill>
                <a:srgbClr val="313D4C"/>
              </a:solidFill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2AA1FA72-9578-BC1E-95FC-A204AC4C0197}"/>
              </a:ext>
            </a:extLst>
          </p:cNvPr>
          <p:cNvSpPr/>
          <p:nvPr/>
        </p:nvSpPr>
        <p:spPr>
          <a:xfrm>
            <a:off x="1807536" y="1094852"/>
            <a:ext cx="10165208" cy="5193653"/>
          </a:xfrm>
          <a:prstGeom prst="roundRect">
            <a:avLst>
              <a:gd name="adj" fmla="val 614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20">
            <a:extLst>
              <a:ext uri="{FF2B5EF4-FFF2-40B4-BE49-F238E27FC236}">
                <a16:creationId xmlns="" xmlns:a16="http://schemas.microsoft.com/office/drawing/2014/main" id="{20ADA2A6-00C8-A539-EECC-C10CDDDE5CFE}"/>
              </a:ext>
            </a:extLst>
          </p:cNvPr>
          <p:cNvSpPr/>
          <p:nvPr/>
        </p:nvSpPr>
        <p:spPr>
          <a:xfrm rot="17609491">
            <a:off x="152572" y="5149473"/>
            <a:ext cx="1385721" cy="1776419"/>
          </a:xfrm>
          <a:custGeom>
            <a:avLst/>
            <a:gdLst/>
            <a:ahLst/>
            <a:cxnLst/>
            <a:rect l="l" t="t" r="r" b="b"/>
            <a:pathLst>
              <a:path w="4135477" h="4114800">
                <a:moveTo>
                  <a:pt x="0" y="0"/>
                </a:moveTo>
                <a:lnTo>
                  <a:pt x="4135478" y="0"/>
                </a:lnTo>
                <a:lnTo>
                  <a:pt x="4135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61C63558-04C2-5866-7CEF-AA59285F7C18}"/>
              </a:ext>
            </a:extLst>
          </p:cNvPr>
          <p:cNvSpPr txBox="1"/>
          <p:nvPr/>
        </p:nvSpPr>
        <p:spPr>
          <a:xfrm>
            <a:off x="1916495" y="1575772"/>
            <a:ext cx="978517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744C16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just">
              <a:lnSpc>
                <a:spcPct val="150000"/>
              </a:lnSpc>
            </a:pPr>
            <a:endParaRPr lang="en-US" sz="1600" b="1" dirty="0">
              <a:solidFill>
                <a:srgbClr val="744C1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Flowchart: Delay 6">
            <a:extLst>
              <a:ext uri="{FF2B5EF4-FFF2-40B4-BE49-F238E27FC236}">
                <a16:creationId xmlns="" xmlns:a16="http://schemas.microsoft.com/office/drawing/2014/main" id="{7333EF35-6737-4604-9065-D9BC3FA10A10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="" xmlns:a16="http://schemas.microsoft.com/office/drawing/2014/main" id="{EEE492D0-6278-6955-5313-D399338210FF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3BBF11B9-41C3-5CB2-00DC-10636590D3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58439A4B-B989-977C-091A-83ABE8587233}"/>
              </a:ext>
            </a:extLst>
          </p:cNvPr>
          <p:cNvSpPr/>
          <p:nvPr/>
        </p:nvSpPr>
        <p:spPr>
          <a:xfrm>
            <a:off x="3356602" y="1738390"/>
            <a:ext cx="7370470" cy="26786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Solusi yang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ditawarkan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untuk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menyelesaikan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beberapa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masalah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yang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ditemui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adalah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dengan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sistem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informasi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manajemen</a:t>
            </a:r>
            <a:r>
              <a:rPr lang="en-US" sz="20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puskesmas</a:t>
            </a:r>
            <a:r>
              <a:rPr lang="en-US" sz="2000" b="1" i="0" dirty="0" smtClean="0">
                <a:solidFill>
                  <a:schemeClr val="tx1"/>
                </a:solidFill>
                <a:effectLst/>
                <a:latin typeface="Mulish" charset="0"/>
                <a:cs typeface="Times New Roman" panose="02020603050405020304" pitchFamily="18" charset="0"/>
              </a:rPr>
              <a:t>.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Menerapkan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sistem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informasi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terkomputerisasi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akan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mempercepat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proses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pengelolaan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data,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mengurangi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resiko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kesalahan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, dan </a:t>
            </a:r>
            <a:r>
              <a:rPr lang="en-US" sz="2000" b="1" dirty="0" err="1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memudahkan</a:t>
            </a:r>
            <a:r>
              <a:rPr lang="en-US" sz="2000" b="1" dirty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Mulish" charset="0"/>
                <a:cs typeface="Times New Roman" panose="02020603050405020304" pitchFamily="18" charset="0"/>
              </a:rPr>
              <a:t>monitoring. </a:t>
            </a:r>
            <a:endParaRPr lang="en-US" sz="2000" b="1" dirty="0">
              <a:solidFill>
                <a:schemeClr val="tx1"/>
              </a:solidFill>
              <a:latin typeface="Mulish" charset="0"/>
              <a:cs typeface="Times New Roman" panose="02020603050405020304" pitchFamily="18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="" xmlns:a16="http://schemas.microsoft.com/office/drawing/2014/main" id="{94C16209-99AA-9110-26AE-16DFBDD788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2977467" y="1732362"/>
            <a:ext cx="833630" cy="937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79AF55E-E0F1-4494-BFB7-F3FA47CCF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725" y="4042510"/>
            <a:ext cx="2172672" cy="217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2994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DDA43F0-1321-DED4-18E4-EF6BC20F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14">
            <a:extLst>
              <a:ext uri="{FF2B5EF4-FFF2-40B4-BE49-F238E27FC236}">
                <a16:creationId xmlns="" xmlns:a16="http://schemas.microsoft.com/office/drawing/2014/main" id="{AAC7674A-9354-A0B8-90A3-0B13B3E9FA25}"/>
              </a:ext>
            </a:extLst>
          </p:cNvPr>
          <p:cNvSpPr/>
          <p:nvPr/>
        </p:nvSpPr>
        <p:spPr>
          <a:xfrm>
            <a:off x="59756" y="4786399"/>
            <a:ext cx="1317708" cy="2051141"/>
          </a:xfrm>
          <a:custGeom>
            <a:avLst/>
            <a:gdLst/>
            <a:ahLst/>
            <a:cxnLst/>
            <a:rect l="l" t="t" r="r" b="b"/>
            <a:pathLst>
              <a:path w="2753175" h="4114800">
                <a:moveTo>
                  <a:pt x="0" y="0"/>
                </a:moveTo>
                <a:lnTo>
                  <a:pt x="2753175" y="0"/>
                </a:lnTo>
                <a:lnTo>
                  <a:pt x="27531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0" name="Rectangle: Rounded Corners 69">
            <a:hlinkClick r:id="rId4" action="ppaction://hlinksldjump"/>
            <a:extLst>
              <a:ext uri="{FF2B5EF4-FFF2-40B4-BE49-F238E27FC236}">
                <a16:creationId xmlns="" xmlns:a16="http://schemas.microsoft.com/office/drawing/2014/main" id="{6570A161-FF53-542E-E2D5-E7DED10022AE}"/>
              </a:ext>
            </a:extLst>
          </p:cNvPr>
          <p:cNvSpPr/>
          <p:nvPr/>
        </p:nvSpPr>
        <p:spPr>
          <a:xfrm>
            <a:off x="4293091" y="979826"/>
            <a:ext cx="4215377" cy="496002"/>
          </a:xfrm>
          <a:prstGeom prst="roundRect">
            <a:avLst/>
          </a:prstGeom>
          <a:solidFill>
            <a:srgbClr val="FFC000"/>
          </a:solidFill>
          <a:ln w="571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Analisis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Sistem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Diusulkan</a:t>
            </a:r>
            <a:endParaRPr lang="en-ID" sz="20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Flowchart: Delay 7">
            <a:extLst>
              <a:ext uri="{FF2B5EF4-FFF2-40B4-BE49-F238E27FC236}">
                <a16:creationId xmlns="" xmlns:a16="http://schemas.microsoft.com/office/drawing/2014/main" id="{A833CC52-D49F-AD69-3960-BC0576312A4E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="" xmlns:a16="http://schemas.microsoft.com/office/drawing/2014/main" id="{65E04411-683F-4E99-8BDC-161E37BBF898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DD32E4E-8AA9-1D7C-2A3F-2230376F6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838195F-29A7-797F-5424-744EB22664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51" y="1897375"/>
            <a:ext cx="1128713" cy="10144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88CC625B-22CF-592D-4F28-1D3554673A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823" y="3194365"/>
            <a:ext cx="1303193" cy="12408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AA4890B8-6EF1-DA88-6D6A-DE64808081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862" y="5002112"/>
            <a:ext cx="1317708" cy="1317708"/>
          </a:xfrm>
          <a:prstGeom prst="rect">
            <a:avLst/>
          </a:prstGeom>
        </p:spPr>
      </p:pic>
      <p:sp>
        <p:nvSpPr>
          <p:cNvPr id="13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2327754" y="2019851"/>
            <a:ext cx="6590615" cy="7694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Sistem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yang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dibuat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berbasis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web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dengan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menggunakan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framework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laravel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.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15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4170177" y="3454425"/>
            <a:ext cx="5721968" cy="72074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Sistem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digunakan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untuk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melakukan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pendaftaran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,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diagnosa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,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pengambilan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obat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serta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pelaporan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.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  <p:sp>
        <p:nvSpPr>
          <p:cNvPr id="16" name="Rectangle: Rounded Corners 2">
            <a:extLst>
              <a:ext uri="{FF2B5EF4-FFF2-40B4-BE49-F238E27FC236}">
                <a16:creationId xmlns="" xmlns:a16="http://schemas.microsoft.com/office/drawing/2014/main" id="{259CE7FD-E791-8272-F420-6A931E39174F}"/>
              </a:ext>
            </a:extLst>
          </p:cNvPr>
          <p:cNvSpPr/>
          <p:nvPr/>
        </p:nvSpPr>
        <p:spPr>
          <a:xfrm>
            <a:off x="5011918" y="5300593"/>
            <a:ext cx="5913382" cy="72074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Data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tersimpan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di database,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hal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ini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mempermudah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dalam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penyimpanan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dan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latin typeface="Mulish" charset="0"/>
              </a:rPr>
              <a:t>pencarian</a:t>
            </a:r>
            <a:r>
              <a:rPr lang="en-US" sz="1600" b="1" dirty="0" smtClean="0">
                <a:solidFill>
                  <a:schemeClr val="bg1"/>
                </a:solidFill>
                <a:latin typeface="Mulish" charset="0"/>
              </a:rPr>
              <a:t> data.</a:t>
            </a:r>
            <a:endParaRPr lang="en-US" sz="1600" b="1" dirty="0">
              <a:solidFill>
                <a:schemeClr val="bg1"/>
              </a:solidFill>
              <a:latin typeface="Mulish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8627129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1D9946A-61DC-E6C1-EE0F-4363CF90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7">
            <a:extLst>
              <a:ext uri="{FF2B5EF4-FFF2-40B4-BE49-F238E27FC236}">
                <a16:creationId xmlns="" xmlns:a16="http://schemas.microsoft.com/office/drawing/2014/main" id="{9D736C42-212B-7704-2EBC-8E2B83163288}"/>
              </a:ext>
            </a:extLst>
          </p:cNvPr>
          <p:cNvGrpSpPr/>
          <p:nvPr/>
        </p:nvGrpSpPr>
        <p:grpSpPr>
          <a:xfrm>
            <a:off x="0" y="5442558"/>
            <a:ext cx="12192000" cy="1396164"/>
            <a:chOff x="0" y="0"/>
            <a:chExt cx="1362556" cy="396348"/>
          </a:xfrm>
          <a:solidFill>
            <a:srgbClr val="313D4C"/>
          </a:solidFill>
        </p:grpSpPr>
        <p:sp>
          <p:nvSpPr>
            <p:cNvPr id="29" name="Freeform 8">
              <a:extLst>
                <a:ext uri="{FF2B5EF4-FFF2-40B4-BE49-F238E27FC236}">
                  <a16:creationId xmlns="" xmlns:a16="http://schemas.microsoft.com/office/drawing/2014/main" id="{2800D426-0454-DF8E-C346-3943688A3FE0}"/>
                </a:ext>
              </a:extLst>
            </p:cNvPr>
            <p:cNvSpPr/>
            <p:nvPr/>
          </p:nvSpPr>
          <p:spPr>
            <a:xfrm>
              <a:off x="0" y="0"/>
              <a:ext cx="1362556" cy="396348"/>
            </a:xfrm>
            <a:custGeom>
              <a:avLst/>
              <a:gdLst/>
              <a:ahLst/>
              <a:cxnLst/>
              <a:rect l="l" t="t" r="r" b="b"/>
              <a:pathLst>
                <a:path w="1362556" h="396348">
                  <a:moveTo>
                    <a:pt x="0" y="0"/>
                  </a:moveTo>
                  <a:lnTo>
                    <a:pt x="1362556" y="0"/>
                  </a:lnTo>
                  <a:lnTo>
                    <a:pt x="1362556" y="396348"/>
                  </a:lnTo>
                  <a:lnTo>
                    <a:pt x="0" y="396348"/>
                  </a:lnTo>
                  <a:close/>
                </a:path>
              </a:pathLst>
            </a:custGeom>
            <a:grpFill/>
            <a:ln>
              <a:solidFill>
                <a:srgbClr val="313D4C"/>
              </a:solidFill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36B8A7DE-1697-07DA-C9F2-0939482B1B3E}"/>
              </a:ext>
            </a:extLst>
          </p:cNvPr>
          <p:cNvSpPr/>
          <p:nvPr/>
        </p:nvSpPr>
        <p:spPr>
          <a:xfrm>
            <a:off x="623455" y="248704"/>
            <a:ext cx="11240563" cy="6623152"/>
          </a:xfrm>
          <a:prstGeom prst="roundRect">
            <a:avLst>
              <a:gd name="adj" fmla="val 614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Delay 6">
            <a:extLst>
              <a:ext uri="{FF2B5EF4-FFF2-40B4-BE49-F238E27FC236}">
                <a16:creationId xmlns="" xmlns:a16="http://schemas.microsoft.com/office/drawing/2014/main" id="{70FA8C3E-C4F9-DE86-4183-05B21777E8D2}"/>
              </a:ext>
            </a:extLst>
          </p:cNvPr>
          <p:cNvSpPr/>
          <p:nvPr/>
        </p:nvSpPr>
        <p:spPr>
          <a:xfrm rot="5400000" flipV="1">
            <a:off x="241392" y="73193"/>
            <a:ext cx="1343891" cy="1170710"/>
          </a:xfrm>
          <a:prstGeom prst="flowChartDelay">
            <a:avLst/>
          </a:prstGeom>
          <a:solidFill>
            <a:srgbClr val="F3BC0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="" xmlns:a16="http://schemas.microsoft.com/office/drawing/2014/main" id="{8E5A312C-6405-7544-A234-67CB09EB537B}"/>
              </a:ext>
            </a:extLst>
          </p:cNvPr>
          <p:cNvSpPr/>
          <p:nvPr/>
        </p:nvSpPr>
        <p:spPr>
          <a:xfrm>
            <a:off x="449209" y="180565"/>
            <a:ext cx="928255" cy="97674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EE7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675AEA3E-3722-779C-D2CE-B92EFA007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95" y="186751"/>
            <a:ext cx="761532" cy="793075"/>
          </a:xfrm>
          <a:prstGeom prst="rect">
            <a:avLst/>
          </a:prstGeom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="" xmlns:a16="http://schemas.microsoft.com/office/drawing/2014/main" id="{431D2D02-FC0A-9753-9662-0A5736B229D0}"/>
              </a:ext>
            </a:extLst>
          </p:cNvPr>
          <p:cNvSpPr/>
          <p:nvPr/>
        </p:nvSpPr>
        <p:spPr>
          <a:xfrm>
            <a:off x="3988311" y="137863"/>
            <a:ext cx="4892453" cy="496002"/>
          </a:xfrm>
          <a:prstGeom prst="roundRect">
            <a:avLst/>
          </a:prstGeom>
          <a:solidFill>
            <a:srgbClr val="FFC000"/>
          </a:solidFill>
          <a:ln w="571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Perancangan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Sistem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Secara</a:t>
            </a:r>
            <a:r>
              <a:rPr lang="en-US" sz="2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Global</a:t>
            </a:r>
            <a:endParaRPr lang="en-ID" sz="20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61" y="1316301"/>
            <a:ext cx="89058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7873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B85979A-ED99-C552-880D-B147DA8599F7}"/>
              </a:ext>
            </a:extLst>
          </p:cNvPr>
          <p:cNvSpPr/>
          <p:nvPr/>
        </p:nvSpPr>
        <p:spPr>
          <a:xfrm>
            <a:off x="0" y="3123997"/>
            <a:ext cx="12192000" cy="25263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13D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C1A9BBD-CE08-64E0-6F22-EF82E435D4EC}"/>
              </a:ext>
            </a:extLst>
          </p:cNvPr>
          <p:cNvSpPr txBox="1"/>
          <p:nvPr/>
        </p:nvSpPr>
        <p:spPr>
          <a:xfrm>
            <a:off x="4307305" y="3007712"/>
            <a:ext cx="8614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57" name="Google Shape;1946;p37">
            <a:extLst>
              <a:ext uri="{FF2B5EF4-FFF2-40B4-BE49-F238E27FC236}">
                <a16:creationId xmlns="" xmlns:a16="http://schemas.microsoft.com/office/drawing/2014/main" id="{F12B8348-F44B-25CD-31A8-EBC443DF56D9}"/>
              </a:ext>
            </a:extLst>
          </p:cNvPr>
          <p:cNvSpPr/>
          <p:nvPr/>
        </p:nvSpPr>
        <p:spPr>
          <a:xfrm>
            <a:off x="511255" y="5549075"/>
            <a:ext cx="10848108" cy="30479"/>
          </a:xfrm>
          <a:prstGeom prst="roundRect">
            <a:avLst>
              <a:gd name="adj" fmla="val 50000"/>
            </a:avLst>
          </a:prstGeom>
          <a:solidFill>
            <a:srgbClr val="EBCDAF"/>
          </a:solidFill>
          <a:ln>
            <a:solidFill>
              <a:schemeClr val="bg1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4CC0D1A1-255B-FCDF-204B-6C8FEB3B6C69}"/>
              </a:ext>
            </a:extLst>
          </p:cNvPr>
          <p:cNvCxnSpPr/>
          <p:nvPr/>
        </p:nvCxnSpPr>
        <p:spPr>
          <a:xfrm>
            <a:off x="2052822" y="6372917"/>
            <a:ext cx="3926305" cy="0"/>
          </a:xfrm>
          <a:prstGeom prst="line">
            <a:avLst/>
          </a:prstGeom>
          <a:ln w="38100">
            <a:solidFill>
              <a:srgbClr val="313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>
            <a:extLst>
              <a:ext uri="{FF2B5EF4-FFF2-40B4-BE49-F238E27FC236}">
                <a16:creationId xmlns="" xmlns:a16="http://schemas.microsoft.com/office/drawing/2014/main" id="{D89DD615-39EB-FA3C-466F-AACE883B38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19947" y="5589317"/>
            <a:ext cx="1032163" cy="10215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801A73C-076A-A7AD-7A80-5895012C7324}"/>
              </a:ext>
            </a:extLst>
          </p:cNvPr>
          <p:cNvSpPr txBox="1"/>
          <p:nvPr/>
        </p:nvSpPr>
        <p:spPr>
          <a:xfrm>
            <a:off x="511255" y="3427190"/>
            <a:ext cx="78845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 smtClean="0">
                <a:ln w="0">
                  <a:noFill/>
                </a:ln>
                <a:solidFill>
                  <a:schemeClr val="bg1"/>
                </a:solidFill>
                <a:latin typeface="Magical Mystery" panose="02000600000000000000" pitchFamily="2" charset="0"/>
                <a:cs typeface="Times New Roman" panose="02020603050405020304" pitchFamily="18" charset="0"/>
              </a:rPr>
              <a:t>Terima</a:t>
            </a:r>
            <a:r>
              <a:rPr lang="en-US" sz="8800" dirty="0" smtClean="0">
                <a:ln w="0">
                  <a:noFill/>
                </a:ln>
                <a:solidFill>
                  <a:schemeClr val="bg1"/>
                </a:solidFill>
                <a:latin typeface="Magical Mystery" panose="020006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8800" dirty="0" err="1" smtClean="0">
                <a:ln w="0">
                  <a:noFill/>
                </a:ln>
                <a:solidFill>
                  <a:schemeClr val="bg1"/>
                </a:solidFill>
                <a:latin typeface="Magical Mystery" panose="02000600000000000000" pitchFamily="2" charset="0"/>
                <a:cs typeface="Times New Roman" panose="02020603050405020304" pitchFamily="18" charset="0"/>
              </a:rPr>
              <a:t>Kasih</a:t>
            </a:r>
            <a:endParaRPr lang="en-US" sz="8800" dirty="0">
              <a:ln w="0">
                <a:noFill/>
              </a:ln>
              <a:solidFill>
                <a:schemeClr val="bg1"/>
              </a:solidFill>
              <a:latin typeface="Magical Mystery" panose="020006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DB1DEB4-B342-9942-53DC-5461B4ECB3EE}"/>
              </a:ext>
            </a:extLst>
          </p:cNvPr>
          <p:cNvSpPr txBox="1"/>
          <p:nvPr/>
        </p:nvSpPr>
        <p:spPr>
          <a:xfrm>
            <a:off x="1637182" y="4894709"/>
            <a:ext cx="5388294" cy="369332"/>
          </a:xfrm>
          <a:prstGeom prst="rect">
            <a:avLst/>
          </a:prstGeom>
          <a:solidFill>
            <a:srgbClr val="F3BC05"/>
          </a:solidFill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="" xmlns:a16="http://schemas.microsoft.com/office/drawing/2014/main" id="{00D52576-5525-F69E-7A07-A9647E56BCC1}"/>
              </a:ext>
            </a:extLst>
          </p:cNvPr>
          <p:cNvSpPr/>
          <p:nvPr/>
        </p:nvSpPr>
        <p:spPr>
          <a:xfrm>
            <a:off x="8907055" y="2281816"/>
            <a:ext cx="2885740" cy="3035244"/>
          </a:xfrm>
          <a:custGeom>
            <a:avLst/>
            <a:gdLst/>
            <a:ahLst/>
            <a:cxnLst/>
            <a:rect l="l" t="t" r="r" b="b"/>
            <a:pathLst>
              <a:path w="8754894" h="8229600">
                <a:moveTo>
                  <a:pt x="0" y="0"/>
                </a:moveTo>
                <a:lnTo>
                  <a:pt x="8754894" y="0"/>
                </a:lnTo>
                <a:lnTo>
                  <a:pt x="87548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266" y="760079"/>
            <a:ext cx="1814521" cy="1892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146537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2174</TotalTime>
  <Words>296</Words>
  <Application>Microsoft Office PowerPoint</Application>
  <PresentationFormat>Custom</PresentationFormat>
  <Paragraphs>76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mifta</dc:creator>
  <cp:lastModifiedBy>Stenly Andika</cp:lastModifiedBy>
  <cp:revision>90</cp:revision>
  <dcterms:created xsi:type="dcterms:W3CDTF">2023-09-28T06:38:42Z</dcterms:created>
  <dcterms:modified xsi:type="dcterms:W3CDTF">2024-08-05T15:26:53Z</dcterms:modified>
</cp:coreProperties>
</file>