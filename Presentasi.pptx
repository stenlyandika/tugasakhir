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6"/>
  </p:notesMasterIdLst>
  <p:sldIdLst>
    <p:sldId id="256" r:id="rId2"/>
    <p:sldId id="259" r:id="rId3"/>
    <p:sldId id="260" r:id="rId4"/>
    <p:sldId id="304" r:id="rId5"/>
    <p:sldId id="305" r:id="rId6"/>
    <p:sldId id="306" r:id="rId7"/>
    <p:sldId id="307" r:id="rId8"/>
    <p:sldId id="308" r:id="rId9"/>
    <p:sldId id="309" r:id="rId10"/>
    <p:sldId id="311" r:id="rId11"/>
    <p:sldId id="312" r:id="rId12"/>
    <p:sldId id="313" r:id="rId13"/>
    <p:sldId id="315" r:id="rId14"/>
    <p:sldId id="314" r:id="rId15"/>
  </p:sldIdLst>
  <p:sldSz cx="9144000" cy="5143500" type="screen16x9"/>
  <p:notesSz cx="6858000" cy="9144000"/>
  <p:embeddedFontLst>
    <p:embeddedFont>
      <p:font typeface="IBM Plex Sans" charset="0"/>
      <p:regular r:id="rId17"/>
      <p:bold r:id="rId18"/>
      <p:italic r:id="rId19"/>
      <p:boldItalic r:id="rId20"/>
    </p:embeddedFont>
    <p:embeddedFont>
      <p:font typeface="Quicksand" charset="0"/>
      <p:regular r:id="rId21"/>
      <p:bold r:id="rId22"/>
    </p:embeddedFont>
    <p:embeddedFont>
      <p:font typeface="Bebas Neue" charset="0"/>
      <p:regular r:id="rId23"/>
    </p:embeddedFont>
    <p:embeddedFont>
      <p:font typeface="Mulish"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79CD968-FA2B-442A-8683-02A57468DC9F}">
  <a:tblStyle styleId="{979CD968-FA2B-442A-8683-02A57468DC9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94660"/>
  </p:normalViewPr>
  <p:slideViewPr>
    <p:cSldViewPr>
      <p:cViewPr varScale="1">
        <p:scale>
          <a:sx n="93" d="100"/>
          <a:sy n="93" d="100"/>
        </p:scale>
        <p:origin x="-750"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6697015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1959250" y="1854500"/>
            <a:ext cx="1189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1959250" y="2939075"/>
            <a:ext cx="5225400" cy="446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cxnSp>
        <p:nvCxnSpPr>
          <p:cNvPr id="18" name="Google Shape;18;p3"/>
          <p:cNvCxnSpPr/>
          <p:nvPr/>
        </p:nvCxnSpPr>
        <p:spPr>
          <a:xfrm rot="10800000">
            <a:off x="8761325" y="2079300"/>
            <a:ext cx="0" cy="984900"/>
          </a:xfrm>
          <a:prstGeom prst="straightConnector1">
            <a:avLst/>
          </a:prstGeom>
          <a:noFill/>
          <a:ln w="19050" cap="flat" cmpd="sng">
            <a:solidFill>
              <a:schemeClr val="lt1"/>
            </a:solidFill>
            <a:prstDash val="solid"/>
            <a:round/>
            <a:headEnd type="oval" w="med" len="med"/>
            <a:tailEnd type="oval" w="med" len="med"/>
          </a:ln>
        </p:spPr>
      </p:cxnSp>
      <p:cxnSp>
        <p:nvCxnSpPr>
          <p:cNvPr id="19" name="Google Shape;19;p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0" name="Google Shape;20;p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2" name="Google Shape;22;p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3" name="Google Shape;23;p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4" name="Google Shape;24;p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5" name="Google Shape;25;p3"/>
          <p:cNvCxnSpPr/>
          <p:nvPr/>
        </p:nvCxnSpPr>
        <p:spPr>
          <a:xfrm rot="10800000">
            <a:off x="394350" y="2079300"/>
            <a:ext cx="0" cy="9849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28;p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9" name="Google Shape;29;p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 name="Google Shape;30;p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31" name="Google Shape;31;p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32" name="Google Shape;32;p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33" name="Google Shape;33;p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9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95"/>
        <p:cNvGrpSpPr/>
        <p:nvPr/>
      </p:nvGrpSpPr>
      <p:grpSpPr>
        <a:xfrm>
          <a:off x="0" y="0"/>
          <a:ext cx="0" cy="0"/>
          <a:chOff x="0" y="0"/>
          <a:chExt cx="0" cy="0"/>
        </a:xfrm>
      </p:grpSpPr>
      <p:sp>
        <p:nvSpPr>
          <p:cNvPr id="96" name="Google Shape;96;p1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8" name="Google Shape;98;p13"/>
          <p:cNvSpPr txBox="1">
            <a:spLocks noGrp="1"/>
          </p:cNvSpPr>
          <p:nvPr>
            <p:ph type="subTitle" idx="1"/>
          </p:nvPr>
        </p:nvSpPr>
        <p:spPr>
          <a:xfrm>
            <a:off x="713225" y="20181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 name="Google Shape;99;p13"/>
          <p:cNvSpPr txBox="1">
            <a:spLocks noGrp="1"/>
          </p:cNvSpPr>
          <p:nvPr>
            <p:ph type="subTitle" idx="2"/>
          </p:nvPr>
        </p:nvSpPr>
        <p:spPr>
          <a:xfrm>
            <a:off x="713225" y="3870728"/>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0" name="Google Shape;100;p13"/>
          <p:cNvSpPr txBox="1">
            <a:spLocks noGrp="1"/>
          </p:cNvSpPr>
          <p:nvPr>
            <p:ph type="subTitle" idx="3"/>
          </p:nvPr>
        </p:nvSpPr>
        <p:spPr>
          <a:xfrm>
            <a:off x="3359125"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 name="Google Shape;101;p13"/>
          <p:cNvSpPr txBox="1">
            <a:spLocks noGrp="1"/>
          </p:cNvSpPr>
          <p:nvPr>
            <p:ph type="subTitle" idx="4"/>
          </p:nvPr>
        </p:nvSpPr>
        <p:spPr>
          <a:xfrm>
            <a:off x="3359125"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2" name="Google Shape;102;p13"/>
          <p:cNvSpPr txBox="1">
            <a:spLocks noGrp="1"/>
          </p:cNvSpPr>
          <p:nvPr>
            <p:ph type="title" idx="5" hasCustomPrompt="1"/>
          </p:nvPr>
        </p:nvSpPr>
        <p:spPr>
          <a:xfrm>
            <a:off x="713225" y="1141288"/>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title" idx="6" hasCustomPrompt="1"/>
          </p:nvPr>
        </p:nvSpPr>
        <p:spPr>
          <a:xfrm>
            <a:off x="33591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a:spLocks noGrp="1"/>
          </p:cNvSpPr>
          <p:nvPr>
            <p:ph type="title" idx="7" hasCustomPrompt="1"/>
          </p:nvPr>
        </p:nvSpPr>
        <p:spPr>
          <a:xfrm>
            <a:off x="7132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title" idx="8" hasCustomPrompt="1"/>
          </p:nvPr>
        </p:nvSpPr>
        <p:spPr>
          <a:xfrm>
            <a:off x="3359125"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subTitle" idx="9"/>
          </p:nvPr>
        </p:nvSpPr>
        <p:spPr>
          <a:xfrm>
            <a:off x="5997638"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7" name="Google Shape;107;p13"/>
          <p:cNvSpPr txBox="1">
            <a:spLocks noGrp="1"/>
          </p:cNvSpPr>
          <p:nvPr>
            <p:ph type="subTitle" idx="13"/>
          </p:nvPr>
        </p:nvSpPr>
        <p:spPr>
          <a:xfrm>
            <a:off x="5997638"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8" name="Google Shape;108;p13"/>
          <p:cNvSpPr txBox="1">
            <a:spLocks noGrp="1"/>
          </p:cNvSpPr>
          <p:nvPr>
            <p:ph type="title" idx="14" hasCustomPrompt="1"/>
          </p:nvPr>
        </p:nvSpPr>
        <p:spPr>
          <a:xfrm>
            <a:off x="5997638"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15" hasCustomPrompt="1"/>
          </p:nvPr>
        </p:nvSpPr>
        <p:spPr>
          <a:xfrm>
            <a:off x="5997638"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subTitle" idx="16"/>
          </p:nvPr>
        </p:nvSpPr>
        <p:spPr>
          <a:xfrm>
            <a:off x="7132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1" name="Google Shape;111;p13"/>
          <p:cNvSpPr txBox="1">
            <a:spLocks noGrp="1"/>
          </p:cNvSpPr>
          <p:nvPr>
            <p:ph type="subTitle" idx="17"/>
          </p:nvPr>
        </p:nvSpPr>
        <p:spPr>
          <a:xfrm>
            <a:off x="713225" y="3447136"/>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2" name="Google Shape;112;p13"/>
          <p:cNvSpPr txBox="1">
            <a:spLocks noGrp="1"/>
          </p:cNvSpPr>
          <p:nvPr>
            <p:ph type="subTitle" idx="18"/>
          </p:nvPr>
        </p:nvSpPr>
        <p:spPr>
          <a:xfrm>
            <a:off x="3359125"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3" name="Google Shape;113;p13"/>
          <p:cNvSpPr txBox="1">
            <a:spLocks noGrp="1"/>
          </p:cNvSpPr>
          <p:nvPr>
            <p:ph type="subTitle" idx="19"/>
          </p:nvPr>
        </p:nvSpPr>
        <p:spPr>
          <a:xfrm>
            <a:off x="33591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4" name="Google Shape;114;p13"/>
          <p:cNvSpPr txBox="1">
            <a:spLocks noGrp="1"/>
          </p:cNvSpPr>
          <p:nvPr>
            <p:ph type="subTitle" idx="20"/>
          </p:nvPr>
        </p:nvSpPr>
        <p:spPr>
          <a:xfrm>
            <a:off x="5997638"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5" name="Google Shape;115;p13"/>
          <p:cNvSpPr txBox="1">
            <a:spLocks noGrp="1"/>
          </p:cNvSpPr>
          <p:nvPr>
            <p:ph type="subTitle" idx="21"/>
          </p:nvPr>
        </p:nvSpPr>
        <p:spPr>
          <a:xfrm>
            <a:off x="5997638"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cxnSp>
        <p:nvCxnSpPr>
          <p:cNvPr id="116" name="Google Shape;116;p1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17" name="Google Shape;117;p1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8" name="Google Shape;118;p1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19" name="Google Shape;119;p1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0" name="Google Shape;120;p1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21" name="Google Shape;121;p1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extLst>
      <p:ext uri="{BB962C8B-B14F-4D97-AF65-F5344CB8AC3E}">
        <p14:creationId xmlns:p14="http://schemas.microsoft.com/office/powerpoint/2010/main" val="2037947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22"/>
        <p:cNvGrpSpPr/>
        <p:nvPr/>
      </p:nvGrpSpPr>
      <p:grpSpPr>
        <a:xfrm>
          <a:off x="0" y="0"/>
          <a:ext cx="0" cy="0"/>
          <a:chOff x="0" y="0"/>
          <a:chExt cx="0" cy="0"/>
        </a:xfrm>
      </p:grpSpPr>
      <p:sp>
        <p:nvSpPr>
          <p:cNvPr id="123" name="Google Shape;123;p1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 name="Google Shape;124;p1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25" name="Google Shape;125;p1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 name="Google Shape;126;p1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27" name="Google Shape;127;p1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8" name="Google Shape;128;p1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29" name="Google Shape;129;p1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30" name="Google Shape;130;p14"/>
          <p:cNvSpPr txBox="1">
            <a:spLocks noGrp="1"/>
          </p:cNvSpPr>
          <p:nvPr>
            <p:ph type="title"/>
          </p:nvPr>
        </p:nvSpPr>
        <p:spPr>
          <a:xfrm>
            <a:off x="969900" y="3387600"/>
            <a:ext cx="7204200" cy="531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1" name="Google Shape;131;p14"/>
          <p:cNvSpPr txBox="1">
            <a:spLocks noGrp="1"/>
          </p:cNvSpPr>
          <p:nvPr>
            <p:ph type="subTitle" idx="1"/>
          </p:nvPr>
        </p:nvSpPr>
        <p:spPr>
          <a:xfrm>
            <a:off x="969900" y="1312625"/>
            <a:ext cx="7204200" cy="14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extLst>
      <p:ext uri="{BB962C8B-B14F-4D97-AF65-F5344CB8AC3E}">
        <p14:creationId xmlns:p14="http://schemas.microsoft.com/office/powerpoint/2010/main" val="1865010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64" r:id="rId6"/>
    <p:sldLayoutId id="2147483670" r:id="rId7"/>
    <p:sldLayoutId id="2147483671" r:id="rId8"/>
    <p:sldLayoutId id="2147483675" r:id="rId9"/>
    <p:sldLayoutId id="2147483676"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1617700" y="309012"/>
            <a:ext cx="5925600" cy="167621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dirty="0" smtClean="0">
                <a:solidFill>
                  <a:schemeClr val="tx1"/>
                </a:solidFill>
              </a:rPr>
              <a:t>Sistem Informasi Rekam Medis Elektronik Berbasis Client Server Pada Puskesmas Siulak Mukai</a:t>
            </a:r>
            <a:endParaRPr sz="2200" b="1" dirty="0">
              <a:solidFill>
                <a:schemeClr val="tx1"/>
              </a:solidFill>
            </a:endParaRPr>
          </a:p>
        </p:txBody>
      </p:sp>
      <p:sp>
        <p:nvSpPr>
          <p:cNvPr id="286" name="Google Shape;286;p29"/>
          <p:cNvSpPr txBox="1">
            <a:spLocks noGrp="1"/>
          </p:cNvSpPr>
          <p:nvPr>
            <p:ph type="subTitle" idx="1"/>
          </p:nvPr>
        </p:nvSpPr>
        <p:spPr>
          <a:xfrm>
            <a:off x="1475656" y="3939902"/>
            <a:ext cx="5942700" cy="7920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smtClean="0">
                <a:solidFill>
                  <a:schemeClr val="tx1"/>
                </a:solidFill>
              </a:rPr>
              <a:t>Dosen Penguji	: Gusrino Yanto, M.Kom</a:t>
            </a:r>
          </a:p>
          <a:p>
            <a:pPr marL="0" lvl="0" indent="0" algn="l" rtl="0">
              <a:spcBef>
                <a:spcPts val="0"/>
              </a:spcBef>
              <a:spcAft>
                <a:spcPts val="0"/>
              </a:spcAft>
              <a:buNone/>
            </a:pPr>
            <a:r>
              <a:rPr lang="en" sz="1200" b="1" dirty="0" smtClean="0">
                <a:solidFill>
                  <a:schemeClr val="tx1"/>
                </a:solidFill>
              </a:rPr>
              <a:t>Dosen </a:t>
            </a:r>
            <a:r>
              <a:rPr lang="en" sz="1200" b="1" dirty="0" smtClean="0">
                <a:solidFill>
                  <a:schemeClr val="tx1"/>
                </a:solidFill>
              </a:rPr>
              <a:t>Pembimbing I	: Heru Saputra, M.Kom</a:t>
            </a:r>
          </a:p>
          <a:p>
            <a:pPr marL="0" lvl="0" indent="0" algn="l" rtl="0">
              <a:spcBef>
                <a:spcPts val="0"/>
              </a:spcBef>
              <a:spcAft>
                <a:spcPts val="0"/>
              </a:spcAft>
              <a:buNone/>
            </a:pPr>
            <a:r>
              <a:rPr lang="en" sz="1200" b="1" dirty="0" smtClean="0">
                <a:solidFill>
                  <a:schemeClr val="tx1"/>
                </a:solidFill>
              </a:rPr>
              <a:t>Dosen Pembimbing II	: Karfindo, M.Kom</a:t>
            </a:r>
            <a:endParaRPr sz="1200" b="1" dirty="0">
              <a:solidFill>
                <a:schemeClr val="tx1"/>
              </a:solidFill>
            </a:endParaRPr>
          </a:p>
        </p:txBody>
      </p:sp>
      <p:cxnSp>
        <p:nvCxnSpPr>
          <p:cNvPr id="287" name="Google Shape;287;p29"/>
          <p:cNvCxnSpPr/>
          <p:nvPr/>
        </p:nvCxnSpPr>
        <p:spPr>
          <a:xfrm rot="10800000" flipH="1">
            <a:off x="1600600" y="4731990"/>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00600" y="411511"/>
            <a:ext cx="5942700" cy="6600"/>
          </a:xfrm>
          <a:prstGeom prst="straightConnector1">
            <a:avLst/>
          </a:prstGeom>
          <a:noFill/>
          <a:ln w="19050" cap="flat" cmpd="sng">
            <a:solidFill>
              <a:schemeClr val="lt1"/>
            </a:solidFill>
            <a:prstDash val="solid"/>
            <a:round/>
            <a:headEnd type="oval" w="med" len="med"/>
            <a:tailEnd type="oval" w="med" len="med"/>
          </a:ln>
        </p:spPr>
      </p:cxnSp>
      <p:sp>
        <p:nvSpPr>
          <p:cNvPr id="289" name="Google Shape;289;p29"/>
          <p:cNvSpPr/>
          <p:nvPr/>
        </p:nvSpPr>
        <p:spPr>
          <a:xfrm>
            <a:off x="1519792" y="2499742"/>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7356936" y="2499742"/>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4395" y="1851670"/>
            <a:ext cx="1075109" cy="1121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Google Shape;286;p29"/>
          <p:cNvSpPr txBox="1">
            <a:spLocks/>
          </p:cNvSpPr>
          <p:nvPr/>
        </p:nvSpPr>
        <p:spPr>
          <a:xfrm>
            <a:off x="1600600" y="3075806"/>
            <a:ext cx="5942700" cy="720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ulish"/>
              <a:buNone/>
              <a:defRPr sz="16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0"/>
              </a:spcBef>
              <a:spcAft>
                <a:spcPts val="0"/>
              </a:spcAft>
              <a:buClr>
                <a:schemeClr val="dk1"/>
              </a:buClr>
              <a:buSzPts val="1800"/>
              <a:buFont typeface="Mulish"/>
              <a:buNone/>
              <a:defRPr sz="1800" b="0" i="0" u="none" strike="noStrike" cap="none">
                <a:solidFill>
                  <a:schemeClr val="dk1"/>
                </a:solidFill>
                <a:latin typeface="Mulish"/>
                <a:ea typeface="Mulish"/>
                <a:cs typeface="Mulish"/>
                <a:sym typeface="Mulish"/>
              </a:defRPr>
            </a:lvl9pPr>
          </a:lstStyle>
          <a:p>
            <a:pPr marL="0" indent="0">
              <a:lnSpc>
                <a:spcPct val="150000"/>
              </a:lnSpc>
            </a:pPr>
            <a:r>
              <a:rPr lang="en-US" b="1" dirty="0" err="1" smtClean="0">
                <a:solidFill>
                  <a:schemeClr val="tx1"/>
                </a:solidFill>
              </a:rPr>
              <a:t>Stenly</a:t>
            </a:r>
            <a:r>
              <a:rPr lang="en-US" b="1" dirty="0" smtClean="0">
                <a:solidFill>
                  <a:schemeClr val="tx1"/>
                </a:solidFill>
              </a:rPr>
              <a:t> </a:t>
            </a:r>
            <a:r>
              <a:rPr lang="en-US" b="1" dirty="0" err="1" smtClean="0">
                <a:solidFill>
                  <a:schemeClr val="tx1"/>
                </a:solidFill>
              </a:rPr>
              <a:t>Andika</a:t>
            </a:r>
            <a:endParaRPr lang="en-US" b="1" dirty="0" smtClean="0">
              <a:solidFill>
                <a:schemeClr val="tx1"/>
              </a:solidFill>
            </a:endParaRPr>
          </a:p>
          <a:p>
            <a:pPr marL="0" indent="0">
              <a:lnSpc>
                <a:spcPct val="150000"/>
              </a:lnSpc>
            </a:pPr>
            <a:r>
              <a:rPr lang="en-US" b="1" dirty="0" smtClean="0">
                <a:solidFill>
                  <a:schemeClr val="tx1"/>
                </a:solidFill>
              </a:rPr>
              <a:t>191200013</a:t>
            </a:r>
            <a:endParaRPr lang="en-US"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1600600" y="1916763"/>
            <a:ext cx="3403448"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t>BAB</a:t>
            </a:r>
            <a:endParaRPr dirty="0"/>
          </a:p>
        </p:txBody>
      </p:sp>
      <p:sp>
        <p:nvSpPr>
          <p:cNvPr id="330" name="Google Shape;330;p32"/>
          <p:cNvSpPr txBox="1">
            <a:spLocks noGrp="1"/>
          </p:cNvSpPr>
          <p:nvPr>
            <p:ph type="subTitle" idx="1"/>
          </p:nvPr>
        </p:nvSpPr>
        <p:spPr>
          <a:xfrm>
            <a:off x="1959250" y="3003798"/>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600" b="1" dirty="0" smtClean="0">
                <a:latin typeface="Quicksand" charset="0"/>
              </a:rPr>
              <a:t>Latar Belakang Masalah</a:t>
            </a:r>
            <a:endParaRPr sz="1600" b="1" dirty="0">
              <a:latin typeface="Quicksand" charset="0"/>
            </a:endParaRPr>
          </a:p>
        </p:txBody>
      </p:sp>
      <p:sp>
        <p:nvSpPr>
          <p:cNvPr id="331" name="Google Shape;331;p32"/>
          <p:cNvSpPr txBox="1">
            <a:spLocks noGrp="1"/>
          </p:cNvSpPr>
          <p:nvPr>
            <p:ph type="title" idx="2"/>
          </p:nvPr>
        </p:nvSpPr>
        <p:spPr>
          <a:xfrm>
            <a:off x="5076056" y="1916763"/>
            <a:ext cx="2053896"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1</a:t>
            </a:r>
            <a:endParaRPr dirty="0"/>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a:t>
            </a:r>
            <a:endParaRPr dirty="0"/>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1610824"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Latar Belakang Masalah</a:t>
            </a:r>
            <a:endParaRPr dirty="0"/>
          </a:p>
        </p:txBody>
      </p:sp>
      <p:sp>
        <p:nvSpPr>
          <p:cNvPr id="342" name="Google Shape;342;p33"/>
          <p:cNvSpPr txBox="1">
            <a:spLocks noGrp="1"/>
          </p:cNvSpPr>
          <p:nvPr>
            <p:ph type="subTitle" idx="1"/>
          </p:nvPr>
        </p:nvSpPr>
        <p:spPr>
          <a:xfrm>
            <a:off x="720025" y="1059582"/>
            <a:ext cx="7704000" cy="3600400"/>
          </a:xfrm>
          <a:prstGeom prst="rect">
            <a:avLst/>
          </a:prstGeom>
        </p:spPr>
        <p:txBody>
          <a:bodyPr spcFirstLastPara="1" wrap="square" lIns="91425" tIns="91425" rIns="91425" bIns="91425" anchor="t" anchorCtr="0">
            <a:noAutofit/>
          </a:bodyPr>
          <a:lstStyle/>
          <a:p>
            <a:pPr marL="0" lvl="0" indent="0" algn="just"/>
            <a:r>
              <a:rPr lang="en-US" sz="1200" dirty="0" err="1"/>
              <a:t>Sistem</a:t>
            </a:r>
            <a:r>
              <a:rPr lang="en-US" sz="1200" dirty="0"/>
              <a:t> </a:t>
            </a:r>
            <a:r>
              <a:rPr lang="en-US" sz="1200" dirty="0" err="1"/>
              <a:t>informasi</a:t>
            </a:r>
            <a:r>
              <a:rPr lang="en-US" sz="1200" dirty="0"/>
              <a:t> </a:t>
            </a:r>
            <a:r>
              <a:rPr lang="en-US" sz="1200" dirty="0" err="1"/>
              <a:t>telah</a:t>
            </a:r>
            <a:r>
              <a:rPr lang="en-US" sz="1200" dirty="0"/>
              <a:t> </a:t>
            </a:r>
            <a:r>
              <a:rPr lang="en-US" sz="1200" dirty="0" err="1"/>
              <a:t>berkembang</a:t>
            </a:r>
            <a:r>
              <a:rPr lang="en-US" sz="1200" dirty="0"/>
              <a:t> </a:t>
            </a:r>
            <a:r>
              <a:rPr lang="en-US" sz="1200" dirty="0" err="1"/>
              <a:t>seiring</a:t>
            </a:r>
            <a:r>
              <a:rPr lang="en-US" sz="1200" dirty="0"/>
              <a:t> </a:t>
            </a:r>
            <a:r>
              <a:rPr lang="en-US" sz="1200" dirty="0" err="1"/>
              <a:t>dengan</a:t>
            </a:r>
            <a:r>
              <a:rPr lang="en-US" sz="1200" dirty="0"/>
              <a:t> </a:t>
            </a:r>
            <a:r>
              <a:rPr lang="en-US" sz="1200" dirty="0" err="1"/>
              <a:t>perkembangan</a:t>
            </a:r>
            <a:r>
              <a:rPr lang="en-US" sz="1200" dirty="0"/>
              <a:t> </a:t>
            </a:r>
            <a:r>
              <a:rPr lang="en-US" sz="1200" dirty="0" err="1"/>
              <a:t>teknologi</a:t>
            </a:r>
            <a:r>
              <a:rPr lang="en-US" sz="1200" dirty="0"/>
              <a:t> </a:t>
            </a:r>
            <a:r>
              <a:rPr lang="en-US" sz="1200" dirty="0" err="1"/>
              <a:t>informasi</a:t>
            </a:r>
            <a:r>
              <a:rPr lang="en-US" sz="1200" dirty="0"/>
              <a:t> yang </a:t>
            </a:r>
            <a:r>
              <a:rPr lang="en-US" sz="1200" dirty="0" err="1"/>
              <a:t>sangat</a:t>
            </a:r>
            <a:r>
              <a:rPr lang="en-US" sz="1200" dirty="0"/>
              <a:t> </a:t>
            </a:r>
            <a:r>
              <a:rPr lang="en-US" sz="1200" dirty="0" err="1"/>
              <a:t>cepat</a:t>
            </a:r>
            <a:r>
              <a:rPr lang="en-US" sz="1200" dirty="0"/>
              <a:t> </a:t>
            </a:r>
            <a:r>
              <a:rPr lang="en-US" sz="1200" dirty="0" err="1"/>
              <a:t>dan</a:t>
            </a:r>
            <a:r>
              <a:rPr lang="en-US" sz="1200" dirty="0"/>
              <a:t> </a:t>
            </a:r>
            <a:r>
              <a:rPr lang="en-US" sz="1200" dirty="0" err="1"/>
              <a:t>terbukti</a:t>
            </a:r>
            <a:r>
              <a:rPr lang="en-US" sz="1200" dirty="0"/>
              <a:t> </a:t>
            </a:r>
            <a:r>
              <a:rPr lang="en-US" sz="1200" dirty="0" err="1"/>
              <a:t>berperan</a:t>
            </a:r>
            <a:r>
              <a:rPr lang="en-US" sz="1200" dirty="0"/>
              <a:t> </a:t>
            </a:r>
            <a:r>
              <a:rPr lang="en-US" sz="1200" dirty="0" err="1"/>
              <a:t>dalam</a:t>
            </a:r>
            <a:r>
              <a:rPr lang="en-US" sz="1200" dirty="0"/>
              <a:t> </a:t>
            </a:r>
            <a:r>
              <a:rPr lang="en-US" sz="1200" dirty="0" err="1"/>
              <a:t>berbagai</a:t>
            </a:r>
            <a:r>
              <a:rPr lang="en-US" sz="1200" dirty="0"/>
              <a:t> </a:t>
            </a:r>
            <a:r>
              <a:rPr lang="en-US" sz="1200" dirty="0" err="1"/>
              <a:t>kegiatan</a:t>
            </a:r>
            <a:r>
              <a:rPr lang="en-US" sz="1200" dirty="0"/>
              <a:t>. </a:t>
            </a:r>
            <a:r>
              <a:rPr lang="en-US" sz="1200" dirty="0" err="1"/>
              <a:t>Keberadaan</a:t>
            </a:r>
            <a:r>
              <a:rPr lang="en-US" sz="1200" dirty="0"/>
              <a:t> </a:t>
            </a:r>
            <a:r>
              <a:rPr lang="en-US" sz="1200" dirty="0" err="1"/>
              <a:t>sistem</a:t>
            </a:r>
            <a:r>
              <a:rPr lang="en-US" sz="1200" dirty="0"/>
              <a:t> </a:t>
            </a:r>
            <a:r>
              <a:rPr lang="en-US" sz="1200" dirty="0" err="1"/>
              <a:t>informasi</a:t>
            </a:r>
            <a:r>
              <a:rPr lang="en-US" sz="1200" dirty="0"/>
              <a:t> </a:t>
            </a:r>
            <a:r>
              <a:rPr lang="en-US" sz="1200" dirty="0" err="1"/>
              <a:t>mendukung</a:t>
            </a:r>
            <a:r>
              <a:rPr lang="en-US" sz="1200" dirty="0"/>
              <a:t> </a:t>
            </a:r>
            <a:r>
              <a:rPr lang="en-US" sz="1200" dirty="0" err="1"/>
              <a:t>kinerja</a:t>
            </a:r>
            <a:r>
              <a:rPr lang="en-US" sz="1200" dirty="0"/>
              <a:t> </a:t>
            </a:r>
            <a:r>
              <a:rPr lang="en-US" sz="1200" dirty="0" err="1"/>
              <a:t>peningkatan</a:t>
            </a:r>
            <a:r>
              <a:rPr lang="en-US" sz="1200" dirty="0"/>
              <a:t> </a:t>
            </a:r>
            <a:r>
              <a:rPr lang="en-US" sz="1200" dirty="0" err="1"/>
              <a:t>efisiensi</a:t>
            </a:r>
            <a:r>
              <a:rPr lang="en-US" sz="1200" dirty="0"/>
              <a:t>, </a:t>
            </a:r>
            <a:r>
              <a:rPr lang="en-US" sz="1200" dirty="0" err="1"/>
              <a:t>efektivitas</a:t>
            </a:r>
            <a:r>
              <a:rPr lang="en-US" sz="1200" dirty="0"/>
              <a:t>, </a:t>
            </a:r>
            <a:r>
              <a:rPr lang="en-US" sz="1200" dirty="0" err="1"/>
              <a:t>dan</a:t>
            </a:r>
            <a:r>
              <a:rPr lang="en-US" sz="1200" dirty="0"/>
              <a:t> </a:t>
            </a:r>
            <a:r>
              <a:rPr lang="en-US" sz="1200" dirty="0" err="1"/>
              <a:t>produktivitas</a:t>
            </a:r>
            <a:r>
              <a:rPr lang="en-US" sz="1200" dirty="0"/>
              <a:t> </a:t>
            </a:r>
            <a:r>
              <a:rPr lang="en-US" sz="1200" dirty="0" err="1"/>
              <a:t>bagi</a:t>
            </a:r>
            <a:r>
              <a:rPr lang="en-US" sz="1200" dirty="0"/>
              <a:t> </a:t>
            </a:r>
            <a:r>
              <a:rPr lang="en-US" sz="1200" dirty="0" err="1"/>
              <a:t>berbagai</a:t>
            </a:r>
            <a:r>
              <a:rPr lang="en-US" sz="1200" dirty="0"/>
              <a:t> </a:t>
            </a:r>
            <a:r>
              <a:rPr lang="en-US" sz="1200" dirty="0" err="1" smtClean="0"/>
              <a:t>instansi</a:t>
            </a:r>
            <a:r>
              <a:rPr lang="en-US" sz="1200" dirty="0" smtClean="0"/>
              <a:t>, </a:t>
            </a:r>
            <a:r>
              <a:rPr lang="en-US" sz="1200" dirty="0" err="1" smtClean="0"/>
              <a:t>salah</a:t>
            </a:r>
            <a:r>
              <a:rPr lang="en-US" sz="1200" dirty="0" smtClean="0"/>
              <a:t> </a:t>
            </a:r>
            <a:r>
              <a:rPr lang="en-US" sz="1200" dirty="0" err="1" smtClean="0"/>
              <a:t>satunya</a:t>
            </a:r>
            <a:r>
              <a:rPr lang="en-US" sz="1200" dirty="0" smtClean="0"/>
              <a:t> </a:t>
            </a:r>
            <a:r>
              <a:rPr lang="en-US" sz="1200" dirty="0" err="1" smtClean="0"/>
              <a:t>instansi</a:t>
            </a:r>
            <a:r>
              <a:rPr lang="en-US" sz="1200" dirty="0" smtClean="0"/>
              <a:t> </a:t>
            </a:r>
            <a:r>
              <a:rPr lang="en-US" sz="1200" dirty="0" err="1" smtClean="0"/>
              <a:t>kesehatan</a:t>
            </a:r>
            <a:r>
              <a:rPr lang="en-US" sz="1200" dirty="0" smtClean="0"/>
              <a:t> yang </a:t>
            </a:r>
            <a:r>
              <a:rPr lang="en-US" sz="1200" dirty="0" err="1"/>
              <a:t>sangat</a:t>
            </a:r>
            <a:r>
              <a:rPr lang="en-US" sz="1200" dirty="0"/>
              <a:t> </a:t>
            </a:r>
            <a:r>
              <a:rPr lang="en-US" sz="1200" dirty="0" err="1"/>
              <a:t>potensial</a:t>
            </a:r>
            <a:r>
              <a:rPr lang="en-US" sz="1200" dirty="0"/>
              <a:t> </a:t>
            </a:r>
            <a:r>
              <a:rPr lang="en-US" sz="1200" dirty="0" err="1"/>
              <a:t>untuk</a:t>
            </a:r>
            <a:r>
              <a:rPr lang="en-US" sz="1200" dirty="0"/>
              <a:t> </a:t>
            </a:r>
            <a:r>
              <a:rPr lang="en-US" sz="1200" dirty="0" err="1"/>
              <a:t>dapat</a:t>
            </a:r>
            <a:r>
              <a:rPr lang="en-US" sz="1200" dirty="0"/>
              <a:t> </a:t>
            </a:r>
            <a:r>
              <a:rPr lang="en-US" sz="1200" dirty="0" err="1"/>
              <a:t>diintegrasikan</a:t>
            </a:r>
            <a:r>
              <a:rPr lang="en-US" sz="1200" dirty="0"/>
              <a:t> </a:t>
            </a:r>
            <a:r>
              <a:rPr lang="en-US" sz="1200" dirty="0" err="1"/>
              <a:t>dengan</a:t>
            </a:r>
            <a:r>
              <a:rPr lang="en-US" sz="1200" dirty="0"/>
              <a:t> </a:t>
            </a:r>
            <a:r>
              <a:rPr lang="en-US" sz="1200" dirty="0" err="1"/>
              <a:t>kehadiran</a:t>
            </a:r>
            <a:r>
              <a:rPr lang="en-US" sz="1200" dirty="0"/>
              <a:t> </a:t>
            </a:r>
            <a:r>
              <a:rPr lang="en-US" sz="1200" dirty="0" err="1"/>
              <a:t>teknologi</a:t>
            </a:r>
            <a:r>
              <a:rPr lang="en-US" sz="1200" dirty="0"/>
              <a:t> </a:t>
            </a:r>
            <a:r>
              <a:rPr lang="en-US" sz="1200" dirty="0" err="1" smtClean="0"/>
              <a:t>informasi</a:t>
            </a:r>
            <a:r>
              <a:rPr lang="en-US" sz="1200" dirty="0" smtClean="0"/>
              <a:t>. </a:t>
            </a:r>
          </a:p>
          <a:p>
            <a:pPr marL="0" lvl="0" indent="0" algn="just"/>
            <a:endParaRPr lang="en-US" sz="1200" dirty="0" smtClean="0"/>
          </a:p>
          <a:p>
            <a:pPr marL="0" lvl="0" indent="0" algn="just"/>
            <a:r>
              <a:rPr lang="en" sz="1200" dirty="0" smtClean="0">
                <a:latin typeface="Mulish" charset="0"/>
              </a:rPr>
              <a:t>Proses pengelolaan data pada puskesmas saat ini masih belum terintegrasi secara komputerisasi, baik dari bagian pendaftaran ke bagian rekam medis, dari rekam medis ke apotek, dan juga sebaliknya, dikarenakan sebagian proses yang masih dilakukan secara manual sehingga mengakibatkan beberapa masalah seperti pasien yang lupa membawa kartu berobat, tenaga kesehatan yang kesulitan mencari nomor rekam medis pasien, susahnya akses riwayat berobat pasien, dan juga petugas apotik yang kesulitan dalam menghitung logistik </a:t>
            </a:r>
            <a:r>
              <a:rPr lang="en" sz="1200" smtClean="0">
                <a:latin typeface="Mulish" charset="0"/>
              </a:rPr>
              <a:t>obat.</a:t>
            </a:r>
          </a:p>
          <a:p>
            <a:pPr marL="0" lvl="0" indent="0" algn="just"/>
            <a:endParaRPr lang="en" sz="1200" dirty="0" smtClean="0">
              <a:latin typeface="Mulish" charset="0"/>
            </a:endParaRPr>
          </a:p>
          <a:p>
            <a:pPr marL="0" lvl="0" indent="0" algn="just" rtl="0">
              <a:spcBef>
                <a:spcPts val="0"/>
              </a:spcBef>
              <a:spcAft>
                <a:spcPts val="0"/>
              </a:spcAft>
              <a:buNone/>
            </a:pPr>
            <a:r>
              <a:rPr lang="en" sz="1200" dirty="0" smtClean="0">
                <a:latin typeface="Mulish" charset="0"/>
              </a:rPr>
              <a:t>Proses pendataan yang masih dilakukan secara manual dengan pencatatan menggunakan buku juga berdampak pada kerusakan, kehilangan data, maupun manipulasi data, hal ini dirasa kurang efektif dari segi perekapan data.</a:t>
            </a:r>
          </a:p>
        </p:txBody>
      </p:sp>
      <p:sp>
        <p:nvSpPr>
          <p:cNvPr id="348" name="Google Shape;348;p3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2</a:t>
            </a: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Identifikasi Masalah</a:t>
            </a:r>
            <a:endParaRPr dirty="0"/>
          </a:p>
        </p:txBody>
      </p:sp>
      <p:sp>
        <p:nvSpPr>
          <p:cNvPr id="342" name="Google Shape;342;p33"/>
          <p:cNvSpPr txBox="1">
            <a:spLocks noGrp="1"/>
          </p:cNvSpPr>
          <p:nvPr>
            <p:ph type="subTitle" idx="1"/>
          </p:nvPr>
        </p:nvSpPr>
        <p:spPr>
          <a:xfrm>
            <a:off x="720025" y="1059582"/>
            <a:ext cx="7704000" cy="360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Berdasarkan latar belakang yang telah diuraikan, maka dapat dirumuskan permasalahannya sebagai berikut.</a:t>
            </a:r>
          </a:p>
          <a:p>
            <a:pPr marL="285750" indent="-285750">
              <a:buFont typeface="Arial" pitchFamily="34" charset="0"/>
              <a:buChar char="•"/>
            </a:pPr>
            <a:r>
              <a:rPr lang="en-US" dirty="0" err="1" smtClean="0"/>
              <a:t>Sistem</a:t>
            </a:r>
            <a:r>
              <a:rPr lang="en-US" dirty="0" smtClean="0"/>
              <a:t> </a:t>
            </a:r>
            <a:r>
              <a:rPr lang="en-US" dirty="0"/>
              <a:t>yang </a:t>
            </a:r>
            <a:r>
              <a:rPr lang="en-US" dirty="0" err="1"/>
              <a:t>belum</a:t>
            </a:r>
            <a:r>
              <a:rPr lang="en-US" dirty="0"/>
              <a:t> </a:t>
            </a:r>
            <a:r>
              <a:rPr lang="en-US" dirty="0" err="1"/>
              <a:t>terintegrasi</a:t>
            </a:r>
            <a:r>
              <a:rPr lang="en-US" dirty="0"/>
              <a:t> </a:t>
            </a:r>
            <a:r>
              <a:rPr lang="en-US" dirty="0" err="1"/>
              <a:t>pada</a:t>
            </a:r>
            <a:r>
              <a:rPr lang="en-US" dirty="0"/>
              <a:t> proses </a:t>
            </a:r>
            <a:r>
              <a:rPr lang="en-US" dirty="0" err="1"/>
              <a:t>pendaftaran</a:t>
            </a:r>
            <a:r>
              <a:rPr lang="en-US" dirty="0"/>
              <a:t> </a:t>
            </a:r>
            <a:r>
              <a:rPr lang="en-US" dirty="0" err="1"/>
              <a:t>pasien</a:t>
            </a:r>
            <a:r>
              <a:rPr lang="en-US" dirty="0"/>
              <a:t> </a:t>
            </a:r>
            <a:r>
              <a:rPr lang="en-US" dirty="0" err="1"/>
              <a:t>kebagian</a:t>
            </a:r>
            <a:r>
              <a:rPr lang="en-US" dirty="0"/>
              <a:t> </a:t>
            </a:r>
            <a:r>
              <a:rPr lang="en-US" dirty="0" err="1"/>
              <a:t>pelayanan</a:t>
            </a:r>
            <a:r>
              <a:rPr lang="en-US" dirty="0"/>
              <a:t> </a:t>
            </a:r>
            <a:r>
              <a:rPr lang="en-US" dirty="0" err="1"/>
              <a:t>sehingga</a:t>
            </a:r>
            <a:r>
              <a:rPr lang="en-US" dirty="0"/>
              <a:t> </a:t>
            </a:r>
            <a:r>
              <a:rPr lang="en-US" dirty="0" err="1"/>
              <a:t>mengakibatkan</a:t>
            </a:r>
            <a:r>
              <a:rPr lang="en-US" dirty="0"/>
              <a:t> </a:t>
            </a:r>
            <a:r>
              <a:rPr lang="en-US" dirty="0" err="1"/>
              <a:t>antrian</a:t>
            </a:r>
            <a:r>
              <a:rPr lang="en-US" dirty="0"/>
              <a:t> </a:t>
            </a:r>
            <a:r>
              <a:rPr lang="en-US" dirty="0" err="1"/>
              <a:t>dan</a:t>
            </a:r>
            <a:r>
              <a:rPr lang="en-US" dirty="0"/>
              <a:t> </a:t>
            </a:r>
            <a:r>
              <a:rPr lang="en-US" dirty="0" err="1"/>
              <a:t>pasien</a:t>
            </a:r>
            <a:r>
              <a:rPr lang="en-US" dirty="0"/>
              <a:t> </a:t>
            </a:r>
            <a:r>
              <a:rPr lang="en-US" dirty="0" err="1"/>
              <a:t>menunggu</a:t>
            </a:r>
            <a:r>
              <a:rPr lang="en-US" dirty="0"/>
              <a:t> </a:t>
            </a:r>
            <a:r>
              <a:rPr lang="en-US" dirty="0" err="1"/>
              <a:t>terlalu</a:t>
            </a:r>
            <a:r>
              <a:rPr lang="en-US" dirty="0"/>
              <a:t> lama,  </a:t>
            </a:r>
            <a:r>
              <a:rPr lang="en-US" dirty="0" err="1"/>
              <a:t>pasien</a:t>
            </a:r>
            <a:r>
              <a:rPr lang="en-US" dirty="0"/>
              <a:t> yang </a:t>
            </a:r>
            <a:r>
              <a:rPr lang="en-US" dirty="0" err="1"/>
              <a:t>terkadang</a:t>
            </a:r>
            <a:r>
              <a:rPr lang="en-US" dirty="0"/>
              <a:t> </a:t>
            </a:r>
            <a:r>
              <a:rPr lang="en-US" dirty="0" err="1"/>
              <a:t>lupa</a:t>
            </a:r>
            <a:r>
              <a:rPr lang="en-US" dirty="0"/>
              <a:t> </a:t>
            </a:r>
            <a:r>
              <a:rPr lang="en-US" dirty="0" err="1"/>
              <a:t>membawa</a:t>
            </a:r>
            <a:r>
              <a:rPr lang="en-US" dirty="0"/>
              <a:t> </a:t>
            </a:r>
            <a:r>
              <a:rPr lang="en-US" dirty="0" err="1"/>
              <a:t>kartu</a:t>
            </a:r>
            <a:r>
              <a:rPr lang="en-US" dirty="0"/>
              <a:t> </a:t>
            </a:r>
            <a:r>
              <a:rPr lang="en-US" dirty="0" err="1"/>
              <a:t>berobat</a:t>
            </a:r>
            <a:r>
              <a:rPr lang="en-US" dirty="0"/>
              <a:t> </a:t>
            </a:r>
            <a:r>
              <a:rPr lang="en-US" dirty="0" err="1"/>
              <a:t>juga</a:t>
            </a:r>
            <a:r>
              <a:rPr lang="en-US" dirty="0"/>
              <a:t> </a:t>
            </a:r>
            <a:r>
              <a:rPr lang="en-US" dirty="0" err="1"/>
              <a:t>menyebabkan</a:t>
            </a:r>
            <a:r>
              <a:rPr lang="en-US" dirty="0"/>
              <a:t> </a:t>
            </a:r>
            <a:r>
              <a:rPr lang="en-US" dirty="0" err="1"/>
              <a:t>petugas</a:t>
            </a:r>
            <a:r>
              <a:rPr lang="en-US" dirty="0"/>
              <a:t> </a:t>
            </a:r>
            <a:r>
              <a:rPr lang="en-US" dirty="0" err="1"/>
              <a:t>kesulitan</a:t>
            </a:r>
            <a:r>
              <a:rPr lang="en-US" dirty="0"/>
              <a:t> </a:t>
            </a:r>
            <a:r>
              <a:rPr lang="en-US" dirty="0" err="1"/>
              <a:t>mencari</a:t>
            </a:r>
            <a:r>
              <a:rPr lang="en-US" dirty="0"/>
              <a:t> </a:t>
            </a:r>
            <a:r>
              <a:rPr lang="en-US" dirty="0" err="1"/>
              <a:t>nomor</a:t>
            </a:r>
            <a:r>
              <a:rPr lang="en-US" dirty="0"/>
              <a:t> </a:t>
            </a:r>
            <a:r>
              <a:rPr lang="en-US" dirty="0" err="1"/>
              <a:t>rekam</a:t>
            </a:r>
            <a:r>
              <a:rPr lang="en-US" dirty="0"/>
              <a:t> </a:t>
            </a:r>
            <a:r>
              <a:rPr lang="en-US" dirty="0" err="1"/>
              <a:t>medis</a:t>
            </a:r>
            <a:r>
              <a:rPr lang="en-US" dirty="0"/>
              <a:t> </a:t>
            </a:r>
            <a:r>
              <a:rPr lang="en-US" dirty="0" err="1"/>
              <a:t>pasien</a:t>
            </a:r>
            <a:r>
              <a:rPr lang="en-US" dirty="0" smtClean="0"/>
              <a:t>.</a:t>
            </a:r>
            <a:endParaRPr lang="en" dirty="0"/>
          </a:p>
          <a:p>
            <a:pPr marL="285750" lvl="0" indent="-285750">
              <a:buFont typeface="Arial" pitchFamily="34" charset="0"/>
              <a:buChar char="•"/>
            </a:pPr>
            <a:r>
              <a:rPr lang="en-US" dirty="0"/>
              <a:t>Proses </a:t>
            </a:r>
            <a:r>
              <a:rPr lang="en-US" dirty="0" err="1"/>
              <a:t>pengolahan</a:t>
            </a:r>
            <a:r>
              <a:rPr lang="en-US" dirty="0"/>
              <a:t> </a:t>
            </a:r>
            <a:r>
              <a:rPr lang="en-US" dirty="0" err="1"/>
              <a:t>rekam</a:t>
            </a:r>
            <a:r>
              <a:rPr lang="en-US" dirty="0"/>
              <a:t> </a:t>
            </a:r>
            <a:r>
              <a:rPr lang="en-US" dirty="0" err="1"/>
              <a:t>medis</a:t>
            </a:r>
            <a:r>
              <a:rPr lang="en-US" dirty="0"/>
              <a:t> </a:t>
            </a:r>
            <a:r>
              <a:rPr lang="en-US" dirty="0" err="1"/>
              <a:t>masih</a:t>
            </a:r>
            <a:r>
              <a:rPr lang="en-US" dirty="0"/>
              <a:t> </a:t>
            </a:r>
            <a:r>
              <a:rPr lang="en-US" dirty="0" err="1"/>
              <a:t>dilakukan</a:t>
            </a:r>
            <a:r>
              <a:rPr lang="en-US" dirty="0"/>
              <a:t> </a:t>
            </a:r>
            <a:r>
              <a:rPr lang="en-US" dirty="0" err="1"/>
              <a:t>secara</a:t>
            </a:r>
            <a:r>
              <a:rPr lang="en-US" dirty="0"/>
              <a:t> manual </a:t>
            </a:r>
            <a:r>
              <a:rPr lang="en-US" dirty="0" smtClean="0"/>
              <a:t>yang </a:t>
            </a:r>
            <a:r>
              <a:rPr lang="en-US" dirty="0" err="1" smtClean="0"/>
              <a:t>dapat</a:t>
            </a:r>
            <a:r>
              <a:rPr lang="en-US" dirty="0" smtClean="0"/>
              <a:t> </a:t>
            </a:r>
            <a:r>
              <a:rPr lang="en-US" dirty="0" err="1"/>
              <a:t>berdampak</a:t>
            </a:r>
            <a:r>
              <a:rPr lang="en-US" dirty="0"/>
              <a:t> </a:t>
            </a:r>
            <a:r>
              <a:rPr lang="en-US" dirty="0" err="1"/>
              <a:t>pada</a:t>
            </a:r>
            <a:r>
              <a:rPr lang="en-US" dirty="0"/>
              <a:t> </a:t>
            </a:r>
            <a:r>
              <a:rPr lang="en-US" dirty="0" err="1"/>
              <a:t>kerusakan</a:t>
            </a:r>
            <a:r>
              <a:rPr lang="en-US" dirty="0"/>
              <a:t>, </a:t>
            </a:r>
            <a:r>
              <a:rPr lang="en-US" dirty="0" err="1"/>
              <a:t>kehilangan</a:t>
            </a:r>
            <a:r>
              <a:rPr lang="en-US" dirty="0"/>
              <a:t> data, </a:t>
            </a:r>
            <a:r>
              <a:rPr lang="en-US" dirty="0" err="1"/>
              <a:t>manipulasi</a:t>
            </a:r>
            <a:r>
              <a:rPr lang="en-US" dirty="0"/>
              <a:t> data, </a:t>
            </a:r>
            <a:r>
              <a:rPr lang="en-US" dirty="0" err="1"/>
              <a:t>kerangkapan</a:t>
            </a:r>
            <a:r>
              <a:rPr lang="en-US" dirty="0"/>
              <a:t> data </a:t>
            </a:r>
            <a:r>
              <a:rPr lang="en-US" dirty="0" err="1"/>
              <a:t>dan</a:t>
            </a:r>
            <a:r>
              <a:rPr lang="en-US" dirty="0"/>
              <a:t> </a:t>
            </a:r>
            <a:r>
              <a:rPr lang="en-US" dirty="0" err="1"/>
              <a:t>waktu</a:t>
            </a:r>
            <a:r>
              <a:rPr lang="en-US" dirty="0"/>
              <a:t> yang </a:t>
            </a:r>
            <a:r>
              <a:rPr lang="en-US" dirty="0" err="1"/>
              <a:t>digunakan</a:t>
            </a:r>
            <a:r>
              <a:rPr lang="en-US" dirty="0"/>
              <a:t> </a:t>
            </a:r>
            <a:r>
              <a:rPr lang="en-US" dirty="0" err="1"/>
              <a:t>masih</a:t>
            </a:r>
            <a:r>
              <a:rPr lang="en-US" dirty="0"/>
              <a:t> </a:t>
            </a:r>
            <a:r>
              <a:rPr lang="en-US" dirty="0" err="1"/>
              <a:t>kurang</a:t>
            </a:r>
            <a:r>
              <a:rPr lang="en-US" dirty="0"/>
              <a:t> </a:t>
            </a:r>
            <a:r>
              <a:rPr lang="en-US" dirty="0" err="1"/>
              <a:t>efektif</a:t>
            </a:r>
            <a:r>
              <a:rPr lang="en-US" dirty="0"/>
              <a:t> </a:t>
            </a:r>
            <a:r>
              <a:rPr lang="en-US" dirty="0" err="1"/>
              <a:t>dan</a:t>
            </a:r>
            <a:r>
              <a:rPr lang="en-US" dirty="0"/>
              <a:t> </a:t>
            </a:r>
            <a:r>
              <a:rPr lang="en-US" dirty="0" err="1"/>
              <a:t>efesien</a:t>
            </a:r>
            <a:r>
              <a:rPr lang="en-US" dirty="0"/>
              <a:t> </a:t>
            </a:r>
            <a:r>
              <a:rPr lang="en-US" dirty="0" err="1"/>
              <a:t>dari</a:t>
            </a:r>
            <a:r>
              <a:rPr lang="en-US" dirty="0"/>
              <a:t> </a:t>
            </a:r>
            <a:r>
              <a:rPr lang="en-US" dirty="0" err="1"/>
              <a:t>segi</a:t>
            </a:r>
            <a:r>
              <a:rPr lang="en-US" dirty="0"/>
              <a:t> </a:t>
            </a:r>
            <a:r>
              <a:rPr lang="en-US" dirty="0" err="1"/>
              <a:t>perekapan</a:t>
            </a:r>
            <a:r>
              <a:rPr lang="en-US" dirty="0"/>
              <a:t> </a:t>
            </a:r>
            <a:r>
              <a:rPr lang="en-US" dirty="0" smtClean="0"/>
              <a:t>data, </a:t>
            </a:r>
            <a:r>
              <a:rPr lang="en-US" dirty="0" err="1"/>
              <a:t>serta</a:t>
            </a:r>
            <a:r>
              <a:rPr lang="en-US" dirty="0"/>
              <a:t> </a:t>
            </a:r>
            <a:r>
              <a:rPr lang="en-US" dirty="0" err="1"/>
              <a:t>sulitnya</a:t>
            </a:r>
            <a:r>
              <a:rPr lang="en-US" dirty="0"/>
              <a:t> </a:t>
            </a:r>
            <a:r>
              <a:rPr lang="en-US" dirty="0" err="1"/>
              <a:t>akses</a:t>
            </a:r>
            <a:r>
              <a:rPr lang="en-US" dirty="0"/>
              <a:t> data </a:t>
            </a:r>
            <a:r>
              <a:rPr lang="en-US" dirty="0" err="1"/>
              <a:t>riwayat</a:t>
            </a:r>
            <a:r>
              <a:rPr lang="en-US" dirty="0"/>
              <a:t> </a:t>
            </a:r>
            <a:r>
              <a:rPr lang="en-US" dirty="0" err="1"/>
              <a:t>berobat</a:t>
            </a:r>
            <a:r>
              <a:rPr lang="en-US" dirty="0"/>
              <a:t> </a:t>
            </a:r>
            <a:r>
              <a:rPr lang="en-US" dirty="0" err="1"/>
              <a:t>pasien</a:t>
            </a:r>
            <a:r>
              <a:rPr lang="en-US" dirty="0"/>
              <a:t> yang </a:t>
            </a:r>
            <a:r>
              <a:rPr lang="en-US" dirty="0" err="1"/>
              <a:t>sebelumnya</a:t>
            </a:r>
            <a:r>
              <a:rPr lang="en-US" dirty="0"/>
              <a:t> </a:t>
            </a:r>
            <a:r>
              <a:rPr lang="en-US" dirty="0" err="1"/>
              <a:t>pernah</a:t>
            </a:r>
            <a:r>
              <a:rPr lang="en-US" dirty="0"/>
              <a:t> </a:t>
            </a:r>
            <a:r>
              <a:rPr lang="en-US" dirty="0" err="1"/>
              <a:t>berobat</a:t>
            </a:r>
            <a:r>
              <a:rPr lang="en-US" dirty="0"/>
              <a:t> di </a:t>
            </a:r>
            <a:r>
              <a:rPr lang="en-US" dirty="0" err="1"/>
              <a:t>puskesmas</a:t>
            </a:r>
            <a:r>
              <a:rPr lang="en-US" dirty="0" smtClean="0"/>
              <a:t>.</a:t>
            </a:r>
          </a:p>
          <a:p>
            <a:pPr marL="285750" lvl="0" indent="-285750">
              <a:buFont typeface="Arial" pitchFamily="34" charset="0"/>
              <a:buChar char="•"/>
            </a:pPr>
            <a:r>
              <a:rPr lang="en-US" dirty="0" err="1" smtClean="0"/>
              <a:t>Sistem</a:t>
            </a:r>
            <a:r>
              <a:rPr lang="en-US" dirty="0" smtClean="0"/>
              <a:t> yang </a:t>
            </a:r>
            <a:r>
              <a:rPr lang="en-US" dirty="0" err="1" smtClean="0"/>
              <a:t>belum</a:t>
            </a:r>
            <a:r>
              <a:rPr lang="en-US" dirty="0" smtClean="0"/>
              <a:t> </a:t>
            </a:r>
            <a:r>
              <a:rPr lang="en-US" dirty="0" err="1" smtClean="0"/>
              <a:t>terintegrasi</a:t>
            </a:r>
            <a:r>
              <a:rPr lang="en-US" dirty="0" smtClean="0"/>
              <a:t> </a:t>
            </a:r>
            <a:r>
              <a:rPr lang="en-US" dirty="0" err="1" smtClean="0"/>
              <a:t>juga</a:t>
            </a:r>
            <a:r>
              <a:rPr lang="en-US" dirty="0" smtClean="0"/>
              <a:t> </a:t>
            </a:r>
            <a:r>
              <a:rPr lang="en-US" dirty="0" err="1" smtClean="0"/>
              <a:t>mengakibatkan</a:t>
            </a:r>
            <a:r>
              <a:rPr lang="en-US" dirty="0" smtClean="0"/>
              <a:t> </a:t>
            </a:r>
            <a:r>
              <a:rPr lang="en-US" dirty="0"/>
              <a:t>proses </a:t>
            </a:r>
            <a:r>
              <a:rPr lang="en-US" dirty="0" err="1"/>
              <a:t>penyampaian</a:t>
            </a:r>
            <a:r>
              <a:rPr lang="en-US" dirty="0"/>
              <a:t> </a:t>
            </a:r>
            <a:r>
              <a:rPr lang="en-US" dirty="0" err="1"/>
              <a:t>informasi</a:t>
            </a:r>
            <a:r>
              <a:rPr lang="en-US" dirty="0"/>
              <a:t> </a:t>
            </a:r>
            <a:r>
              <a:rPr lang="en-US" dirty="0" err="1"/>
              <a:t>atau</a:t>
            </a:r>
            <a:r>
              <a:rPr lang="en-US" dirty="0"/>
              <a:t> </a:t>
            </a:r>
            <a:r>
              <a:rPr lang="en-US" dirty="0" err="1"/>
              <a:t>pengolahan</a:t>
            </a:r>
            <a:r>
              <a:rPr lang="en-US" dirty="0"/>
              <a:t> data </a:t>
            </a:r>
            <a:r>
              <a:rPr lang="en-US" dirty="0" err="1"/>
              <a:t>hanya</a:t>
            </a:r>
            <a:r>
              <a:rPr lang="en-US" dirty="0"/>
              <a:t> </a:t>
            </a:r>
            <a:r>
              <a:rPr lang="en-US" dirty="0" err="1"/>
              <a:t>dapat</a:t>
            </a:r>
            <a:r>
              <a:rPr lang="en-US" dirty="0"/>
              <a:t> </a:t>
            </a:r>
            <a:r>
              <a:rPr lang="en-US" dirty="0" err="1"/>
              <a:t>dilakukan</a:t>
            </a:r>
            <a:r>
              <a:rPr lang="en-US" dirty="0"/>
              <a:t> </a:t>
            </a:r>
            <a:r>
              <a:rPr lang="en-US" dirty="0" err="1"/>
              <a:t>pada</a:t>
            </a:r>
            <a:r>
              <a:rPr lang="en-US" dirty="0"/>
              <a:t> media </a:t>
            </a:r>
            <a:r>
              <a:rPr lang="en-US" dirty="0" err="1"/>
              <a:t>buku</a:t>
            </a:r>
            <a:r>
              <a:rPr lang="en-US" dirty="0"/>
              <a:t>, </a:t>
            </a:r>
            <a:r>
              <a:rPr lang="en-US" dirty="0" err="1" smtClean="0"/>
              <a:t>hal</a:t>
            </a:r>
            <a:r>
              <a:rPr lang="en-US" dirty="0" smtClean="0"/>
              <a:t> </a:t>
            </a:r>
            <a:r>
              <a:rPr lang="en-US" dirty="0" err="1" smtClean="0"/>
              <a:t>ini</a:t>
            </a:r>
            <a:r>
              <a:rPr lang="en-US" dirty="0" smtClean="0"/>
              <a:t> </a:t>
            </a:r>
            <a:r>
              <a:rPr lang="en-US" dirty="0" err="1" smtClean="0"/>
              <a:t>juga</a:t>
            </a:r>
            <a:r>
              <a:rPr lang="en-US" dirty="0" smtClean="0"/>
              <a:t> </a:t>
            </a:r>
            <a:r>
              <a:rPr lang="en-US" dirty="0" err="1" smtClean="0"/>
              <a:t>berdampak</a:t>
            </a:r>
            <a:r>
              <a:rPr lang="en-US" dirty="0" smtClean="0"/>
              <a:t> </a:t>
            </a:r>
            <a:r>
              <a:rPr lang="en-US" dirty="0" err="1" smtClean="0"/>
              <a:t>pada</a:t>
            </a:r>
            <a:r>
              <a:rPr lang="en-US" dirty="0" smtClean="0"/>
              <a:t> </a:t>
            </a:r>
            <a:r>
              <a:rPr lang="en-US" dirty="0" err="1" smtClean="0"/>
              <a:t>petugas</a:t>
            </a:r>
            <a:r>
              <a:rPr lang="en-US" dirty="0" smtClean="0"/>
              <a:t> </a:t>
            </a:r>
            <a:r>
              <a:rPr lang="en-US" dirty="0" err="1"/>
              <a:t>apotik</a:t>
            </a:r>
            <a:r>
              <a:rPr lang="en-US" dirty="0"/>
              <a:t> yang </a:t>
            </a:r>
            <a:r>
              <a:rPr lang="en-US" dirty="0" err="1"/>
              <a:t>kesulitan</a:t>
            </a:r>
            <a:r>
              <a:rPr lang="en-US" dirty="0"/>
              <a:t> </a:t>
            </a:r>
            <a:r>
              <a:rPr lang="en-US" dirty="0" err="1"/>
              <a:t>menghtung</a:t>
            </a:r>
            <a:r>
              <a:rPr lang="en-US" dirty="0"/>
              <a:t> </a:t>
            </a:r>
            <a:r>
              <a:rPr lang="en-US" dirty="0" err="1"/>
              <a:t>logistik</a:t>
            </a:r>
            <a:r>
              <a:rPr lang="en-US" dirty="0"/>
              <a:t> </a:t>
            </a:r>
            <a:r>
              <a:rPr lang="en-US" dirty="0" err="1"/>
              <a:t>obat</a:t>
            </a:r>
            <a:r>
              <a:rPr lang="en-US" dirty="0"/>
              <a:t>.</a:t>
            </a:r>
          </a:p>
          <a:p>
            <a:pPr marL="285750" indent="-285750">
              <a:buFont typeface="Arial" pitchFamily="34" charset="0"/>
              <a:buChar char="•"/>
            </a:pPr>
            <a:endParaRPr lang="en-US" dirty="0"/>
          </a:p>
        </p:txBody>
      </p:sp>
      <p:sp>
        <p:nvSpPr>
          <p:cNvPr id="348" name="Google Shape;348;p3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a:t>
            </a:r>
            <a:endParaRPr dirty="0"/>
          </a:p>
        </p:txBody>
      </p:sp>
    </p:spTree>
    <p:extLst>
      <p:ext uri="{BB962C8B-B14F-4D97-AF65-F5344CB8AC3E}">
        <p14:creationId xmlns:p14="http://schemas.microsoft.com/office/powerpoint/2010/main" val="10868384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Rumusan Masalah</a:t>
            </a:r>
            <a:endParaRPr dirty="0"/>
          </a:p>
        </p:txBody>
      </p:sp>
      <p:sp>
        <p:nvSpPr>
          <p:cNvPr id="342" name="Google Shape;342;p33"/>
          <p:cNvSpPr txBox="1">
            <a:spLocks noGrp="1"/>
          </p:cNvSpPr>
          <p:nvPr>
            <p:ph type="subTitle" idx="1"/>
          </p:nvPr>
        </p:nvSpPr>
        <p:spPr>
          <a:xfrm>
            <a:off x="720025" y="1059582"/>
            <a:ext cx="7704000" cy="360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Berdasarkan latar belakang yang telah diuraikan, maka dapat dirumuskan permasalahannya sebagai berikut.</a:t>
            </a:r>
          </a:p>
          <a:p>
            <a:pPr marL="285750" indent="-285750">
              <a:buFont typeface="Arial" pitchFamily="34" charset="0"/>
              <a:buChar char="•"/>
            </a:pPr>
            <a:r>
              <a:rPr lang="id-ID" dirty="0"/>
              <a:t>B</a:t>
            </a:r>
            <a:r>
              <a:rPr lang="en-US" dirty="0" err="1"/>
              <a:t>agaimana</a:t>
            </a:r>
            <a:r>
              <a:rPr lang="en-US" dirty="0"/>
              <a:t> </a:t>
            </a:r>
            <a:r>
              <a:rPr lang="en-US" dirty="0" err="1"/>
              <a:t>merancang</a:t>
            </a:r>
            <a:r>
              <a:rPr lang="en-US" dirty="0"/>
              <a:t> </a:t>
            </a:r>
            <a:r>
              <a:rPr lang="en-US" dirty="0" err="1"/>
              <a:t>sistem</a:t>
            </a:r>
            <a:r>
              <a:rPr lang="en-US" dirty="0"/>
              <a:t> </a:t>
            </a:r>
            <a:r>
              <a:rPr lang="en-US" dirty="0" err="1"/>
              <a:t>pendaftaran</a:t>
            </a:r>
            <a:r>
              <a:rPr lang="en-US" dirty="0"/>
              <a:t> </a:t>
            </a:r>
            <a:r>
              <a:rPr lang="en-US" dirty="0" err="1"/>
              <a:t>dan</a:t>
            </a:r>
            <a:r>
              <a:rPr lang="en-US" dirty="0"/>
              <a:t> </a:t>
            </a:r>
            <a:r>
              <a:rPr lang="en-US" dirty="0" err="1"/>
              <a:t>antrian</a:t>
            </a:r>
            <a:r>
              <a:rPr lang="en-US" dirty="0"/>
              <a:t> yang </a:t>
            </a:r>
            <a:r>
              <a:rPr lang="en-US" dirty="0" err="1"/>
              <a:t>efektif</a:t>
            </a:r>
            <a:r>
              <a:rPr lang="en-US" dirty="0"/>
              <a:t> </a:t>
            </a:r>
            <a:r>
              <a:rPr lang="en-US" dirty="0" err="1"/>
              <a:t>dan</a:t>
            </a:r>
            <a:r>
              <a:rPr lang="en-US" dirty="0"/>
              <a:t> </a:t>
            </a:r>
            <a:r>
              <a:rPr lang="en-US" dirty="0" err="1"/>
              <a:t>efisien</a:t>
            </a:r>
            <a:r>
              <a:rPr lang="en-US" dirty="0" smtClean="0"/>
              <a:t>?</a:t>
            </a:r>
          </a:p>
          <a:p>
            <a:pPr marL="285750" indent="-285750">
              <a:buFont typeface="Arial" pitchFamily="34" charset="0"/>
              <a:buChar char="•"/>
            </a:pPr>
            <a:r>
              <a:rPr lang="en-US" dirty="0" err="1"/>
              <a:t>Bagaimana</a:t>
            </a:r>
            <a:r>
              <a:rPr lang="en-US" dirty="0"/>
              <a:t> </a:t>
            </a:r>
            <a:r>
              <a:rPr lang="en-US" dirty="0" err="1"/>
              <a:t>merancang</a:t>
            </a:r>
            <a:r>
              <a:rPr lang="en-US" dirty="0"/>
              <a:t> </a:t>
            </a:r>
            <a:r>
              <a:rPr lang="en-US" dirty="0" err="1"/>
              <a:t>sistem</a:t>
            </a:r>
            <a:r>
              <a:rPr lang="en-US" dirty="0"/>
              <a:t> yang </a:t>
            </a:r>
            <a:r>
              <a:rPr lang="en-US" dirty="0" err="1"/>
              <a:t>saling</a:t>
            </a:r>
            <a:r>
              <a:rPr lang="en-US" dirty="0"/>
              <a:t> </a:t>
            </a:r>
            <a:r>
              <a:rPr lang="en-US" dirty="0" err="1"/>
              <a:t>berinteraksi</a:t>
            </a:r>
            <a:r>
              <a:rPr lang="en-US" dirty="0"/>
              <a:t> </a:t>
            </a:r>
            <a:r>
              <a:rPr lang="en-US" dirty="0" err="1"/>
              <a:t>satu</a:t>
            </a:r>
            <a:r>
              <a:rPr lang="en-US" dirty="0"/>
              <a:t> </a:t>
            </a:r>
            <a:r>
              <a:rPr lang="en-US" dirty="0" err="1"/>
              <a:t>sama</a:t>
            </a:r>
            <a:r>
              <a:rPr lang="en-US" dirty="0"/>
              <a:t> lain </a:t>
            </a:r>
            <a:r>
              <a:rPr lang="en-US" dirty="0" err="1"/>
              <a:t>dengan</a:t>
            </a:r>
            <a:r>
              <a:rPr lang="en-US" dirty="0"/>
              <a:t> </a:t>
            </a:r>
            <a:r>
              <a:rPr lang="en-US" dirty="0" err="1"/>
              <a:t>satu</a:t>
            </a:r>
            <a:r>
              <a:rPr lang="en-US" dirty="0"/>
              <a:t> database </a:t>
            </a:r>
            <a:r>
              <a:rPr lang="en-US" dirty="0" err="1"/>
              <a:t>terpusat</a:t>
            </a:r>
            <a:r>
              <a:rPr lang="en-US" dirty="0"/>
              <a:t>, </a:t>
            </a:r>
            <a:r>
              <a:rPr lang="en-US" dirty="0" err="1"/>
              <a:t>sehingga</a:t>
            </a:r>
            <a:r>
              <a:rPr lang="en-US" dirty="0"/>
              <a:t> </a:t>
            </a:r>
            <a:r>
              <a:rPr lang="en-US" dirty="0" err="1"/>
              <a:t>memudahkan</a:t>
            </a:r>
            <a:r>
              <a:rPr lang="en-US" dirty="0"/>
              <a:t> </a:t>
            </a:r>
            <a:r>
              <a:rPr lang="en-US" dirty="0" err="1"/>
              <a:t>dalam</a:t>
            </a:r>
            <a:r>
              <a:rPr lang="en-US" dirty="0"/>
              <a:t> </a:t>
            </a:r>
            <a:r>
              <a:rPr lang="en-US" dirty="0" err="1"/>
              <a:t>akses</a:t>
            </a:r>
            <a:r>
              <a:rPr lang="en-US" dirty="0"/>
              <a:t> </a:t>
            </a:r>
            <a:r>
              <a:rPr lang="en-US" dirty="0" err="1"/>
              <a:t>riwayat</a:t>
            </a:r>
            <a:r>
              <a:rPr lang="en-US" dirty="0"/>
              <a:t> data yang </a:t>
            </a:r>
            <a:r>
              <a:rPr lang="en-US" dirty="0" err="1"/>
              <a:t>dibutuhkan</a:t>
            </a:r>
            <a:r>
              <a:rPr lang="en-US" dirty="0" smtClean="0"/>
              <a:t>?</a:t>
            </a:r>
          </a:p>
          <a:p>
            <a:pPr marL="285750" indent="-285750">
              <a:buFont typeface="Arial" pitchFamily="34" charset="0"/>
              <a:buChar char="•"/>
            </a:pPr>
            <a:r>
              <a:rPr lang="en-ID" dirty="0" err="1"/>
              <a:t>Bagaimana</a:t>
            </a:r>
            <a:r>
              <a:rPr lang="en-ID" dirty="0"/>
              <a:t> me</a:t>
            </a:r>
            <a:r>
              <a:rPr lang="id-ID" dirty="0"/>
              <a:t>rancang s</a:t>
            </a:r>
            <a:r>
              <a:rPr lang="en-US" dirty="0" err="1"/>
              <a:t>i</a:t>
            </a:r>
            <a:r>
              <a:rPr lang="id-ID" dirty="0"/>
              <a:t>stem </a:t>
            </a:r>
            <a:r>
              <a:rPr lang="en-US" dirty="0" err="1"/>
              <a:t>pendataan</a:t>
            </a:r>
            <a:r>
              <a:rPr lang="en-US" dirty="0"/>
              <a:t> </a:t>
            </a:r>
            <a:r>
              <a:rPr lang="en-US" dirty="0" err="1"/>
              <a:t>obat</a:t>
            </a:r>
            <a:r>
              <a:rPr lang="en-US" dirty="0"/>
              <a:t> yang </a:t>
            </a:r>
            <a:r>
              <a:rPr lang="en-US" dirty="0" err="1"/>
              <a:t>terintegrasi</a:t>
            </a:r>
            <a:r>
              <a:rPr lang="en-US" dirty="0"/>
              <a:t> </a:t>
            </a:r>
            <a:r>
              <a:rPr lang="en-US" dirty="0" err="1"/>
              <a:t>dengan</a:t>
            </a:r>
            <a:r>
              <a:rPr lang="en-US" dirty="0"/>
              <a:t> </a:t>
            </a:r>
            <a:r>
              <a:rPr lang="en-US" dirty="0" err="1"/>
              <a:t>setiap</a:t>
            </a:r>
            <a:r>
              <a:rPr lang="en-US" dirty="0"/>
              <a:t> </a:t>
            </a:r>
            <a:r>
              <a:rPr lang="en-US" dirty="0" err="1"/>
              <a:t>poli</a:t>
            </a:r>
            <a:r>
              <a:rPr lang="en-US" dirty="0"/>
              <a:t> yang </a:t>
            </a:r>
            <a:r>
              <a:rPr lang="en-US" dirty="0" err="1"/>
              <a:t>ada</a:t>
            </a:r>
            <a:r>
              <a:rPr lang="en-US" dirty="0"/>
              <a:t> </a:t>
            </a:r>
            <a:r>
              <a:rPr lang="en-US" dirty="0" err="1"/>
              <a:t>dipuskesmas</a:t>
            </a:r>
            <a:r>
              <a:rPr lang="en-US" dirty="0"/>
              <a:t>?</a:t>
            </a:r>
            <a:r>
              <a:rPr lang="id-ID" dirty="0" smtClean="0"/>
              <a:t>.</a:t>
            </a:r>
            <a:endParaRPr lang="en-US" dirty="0"/>
          </a:p>
          <a:p>
            <a:pPr marL="285750" indent="-285750">
              <a:buFont typeface="Arial" pitchFamily="34" charset="0"/>
              <a:buChar char="•"/>
            </a:pPr>
            <a:endParaRPr lang="en-US" dirty="0"/>
          </a:p>
        </p:txBody>
      </p:sp>
      <p:sp>
        <p:nvSpPr>
          <p:cNvPr id="348" name="Google Shape;348;p3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4</a:t>
            </a:r>
            <a:endParaRPr dirty="0"/>
          </a:p>
        </p:txBody>
      </p:sp>
    </p:spTree>
    <p:extLst>
      <p:ext uri="{BB962C8B-B14F-4D97-AF65-F5344CB8AC3E}">
        <p14:creationId xmlns:p14="http://schemas.microsoft.com/office/powerpoint/2010/main" val="30126113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1600600" y="1916763"/>
            <a:ext cx="3403448"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t>BAB</a:t>
            </a:r>
            <a:endParaRPr dirty="0"/>
          </a:p>
        </p:txBody>
      </p:sp>
      <p:sp>
        <p:nvSpPr>
          <p:cNvPr id="330" name="Google Shape;330;p32"/>
          <p:cNvSpPr txBox="1">
            <a:spLocks noGrp="1"/>
          </p:cNvSpPr>
          <p:nvPr>
            <p:ph type="subTitle" idx="1"/>
          </p:nvPr>
        </p:nvSpPr>
        <p:spPr>
          <a:xfrm>
            <a:off x="1959250" y="3003798"/>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600" b="1" dirty="0" smtClean="0">
                <a:latin typeface="Quicksand" charset="0"/>
              </a:rPr>
              <a:t>Tinjauan Pustaka</a:t>
            </a:r>
            <a:endParaRPr sz="1600" b="1" dirty="0">
              <a:latin typeface="Quicksand" charset="0"/>
            </a:endParaRPr>
          </a:p>
        </p:txBody>
      </p:sp>
      <p:sp>
        <p:nvSpPr>
          <p:cNvPr id="331" name="Google Shape;331;p32"/>
          <p:cNvSpPr txBox="1">
            <a:spLocks noGrp="1"/>
          </p:cNvSpPr>
          <p:nvPr>
            <p:ph type="title" idx="2"/>
          </p:nvPr>
        </p:nvSpPr>
        <p:spPr>
          <a:xfrm>
            <a:off x="4932040" y="1916763"/>
            <a:ext cx="2197912"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2</a:t>
            </a:r>
            <a:endParaRPr dirty="0"/>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5</a:t>
            </a:r>
            <a:endParaRPr dirty="0"/>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1610824"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1115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Studi sebelumnya terkait TA</a:t>
            </a:r>
            <a:endParaRPr dirty="0"/>
          </a:p>
        </p:txBody>
      </p:sp>
      <p:graphicFrame>
        <p:nvGraphicFramePr>
          <p:cNvPr id="297" name="Google Shape;297;p30"/>
          <p:cNvGraphicFramePr/>
          <p:nvPr>
            <p:extLst>
              <p:ext uri="{D42A27DB-BD31-4B8C-83A1-F6EECF244321}">
                <p14:modId xmlns:p14="http://schemas.microsoft.com/office/powerpoint/2010/main" val="572612616"/>
              </p:ext>
            </p:extLst>
          </p:nvPr>
        </p:nvGraphicFramePr>
        <p:xfrm>
          <a:off x="735617" y="1995686"/>
          <a:ext cx="7704000" cy="1789850"/>
        </p:xfrm>
        <a:graphic>
          <a:graphicData uri="http://schemas.openxmlformats.org/drawingml/2006/table">
            <a:tbl>
              <a:tblPr>
                <a:noFill/>
                <a:tableStyleId>{979CD968-FA2B-442A-8683-02A57468DC9F}</a:tableStyleId>
              </a:tblPr>
              <a:tblGrid>
                <a:gridCol w="2496750"/>
                <a:gridCol w="5207250"/>
              </a:tblGrid>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Nama</a:t>
                      </a:r>
                      <a:r>
                        <a:rPr lang="en" sz="1400" b="1" baseline="0" dirty="0" smtClean="0">
                          <a:solidFill>
                            <a:schemeClr val="tx1"/>
                          </a:solidFill>
                          <a:uFill>
                            <a:noFill/>
                          </a:uFill>
                          <a:latin typeface="Mulish" charset="0"/>
                          <a:ea typeface="IBM Plex Sans"/>
                          <a:cs typeface="IBM Plex Sans"/>
                          <a:sym typeface="IBM Plex Sans"/>
                        </a:rPr>
                        <a:t> Penulis</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b="0" i="0" u="none" strike="noStrike" cap="none" dirty="0" err="1" smtClean="0">
                          <a:solidFill>
                            <a:schemeClr val="tx1"/>
                          </a:solidFill>
                          <a:effectLst/>
                          <a:latin typeface="Mulish" charset="0"/>
                          <a:ea typeface="Arial"/>
                          <a:cs typeface="Arial"/>
                          <a:sym typeface="Arial"/>
                        </a:rPr>
                        <a:t>Halimah</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Wasilah</a:t>
                      </a:r>
                      <a:r>
                        <a:rPr lang="en-US" sz="1400" b="0" i="0" u="none" strike="noStrike" cap="none" dirty="0" smtClean="0">
                          <a:solidFill>
                            <a:schemeClr val="tx1"/>
                          </a:solidFill>
                          <a:effectLst/>
                          <a:latin typeface="Mulish" charset="0"/>
                          <a:ea typeface="Arial"/>
                          <a:cs typeface="Arial"/>
                          <a:sym typeface="Arial"/>
                        </a:rPr>
                        <a:t>, Ochi </a:t>
                      </a:r>
                      <a:r>
                        <a:rPr lang="en-US" sz="1400" b="0" i="0" u="none" strike="noStrike" cap="none" dirty="0" err="1" smtClean="0">
                          <a:solidFill>
                            <a:schemeClr val="tx1"/>
                          </a:solidFill>
                          <a:effectLst/>
                          <a:latin typeface="Mulish" charset="0"/>
                          <a:ea typeface="Arial"/>
                          <a:cs typeface="Arial"/>
                          <a:sym typeface="Arial"/>
                        </a:rPr>
                        <a:t>Marshella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Sushanty</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Saleh</a:t>
                      </a:r>
                      <a:endParaRPr sz="1400" dirty="0">
                        <a:solidFill>
                          <a:schemeClr val="tx1"/>
                        </a:solidFill>
                        <a:latin typeface="Mulish" charset="0"/>
                        <a:ea typeface="Mulish"/>
                        <a:cs typeface="Mulish"/>
                        <a:sym typeface="Mulish"/>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r>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Tahun Penelitian</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b="0" i="0" u="none" strike="noStrike" cap="none" dirty="0" smtClean="0">
                          <a:solidFill>
                            <a:schemeClr val="tx1"/>
                          </a:solidFill>
                          <a:effectLst/>
                          <a:latin typeface="Mulish" charset="0"/>
                          <a:ea typeface="Arial"/>
                          <a:cs typeface="Arial"/>
                          <a:sym typeface="Arial"/>
                        </a:rPr>
                        <a:t>2023</a:t>
                      </a:r>
                      <a:endParaRPr sz="1400" dirty="0">
                        <a:solidFill>
                          <a:schemeClr val="tx1"/>
                        </a:solidFill>
                        <a:latin typeface="Mulish" charset="0"/>
                        <a:ea typeface="Mulish"/>
                        <a:cs typeface="Mulish"/>
                        <a:sym typeface="Mulish"/>
                      </a:endParaRPr>
                    </a:p>
                  </a:txBody>
                  <a:tcPr marL="91425" marR="91425" marT="0" marB="0" anchor="ctr">
                    <a:lnL w="9525" cap="flat" cmpd="sng" algn="ctr">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r>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Hasil Penelitian</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400" b="0" i="0" u="none" strike="noStrike" cap="none" dirty="0" smtClean="0">
                          <a:solidFill>
                            <a:schemeClr val="tx1"/>
                          </a:solidFill>
                          <a:effectLst/>
                          <a:latin typeface="Mulish" charset="0"/>
                          <a:ea typeface="Arial"/>
                          <a:cs typeface="Arial"/>
                          <a:sym typeface="Arial"/>
                        </a:rPr>
                        <a:t>Proses </a:t>
                      </a:r>
                      <a:r>
                        <a:rPr lang="en-US" sz="1400" b="0" i="0" u="none" strike="noStrike" cap="none" dirty="0" err="1" smtClean="0">
                          <a:solidFill>
                            <a:schemeClr val="tx1"/>
                          </a:solidFill>
                          <a:effectLst/>
                          <a:latin typeface="Mulish" charset="0"/>
                          <a:ea typeface="Arial"/>
                          <a:cs typeface="Arial"/>
                          <a:sym typeface="Arial"/>
                        </a:rPr>
                        <a:t>membangun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sistem</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informasi</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manajemen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puskesmas</a:t>
                      </a:r>
                      <a:r>
                        <a:rPr lang="en-US" sz="1400" b="0" i="0" u="none" strike="noStrike" cap="none" dirty="0" smtClean="0">
                          <a:solidFill>
                            <a:schemeClr val="tx1"/>
                          </a:solidFill>
                          <a:effectLst/>
                          <a:latin typeface="Mulish" charset="0"/>
                          <a:ea typeface="Arial"/>
                          <a:cs typeface="Arial"/>
                          <a:sym typeface="Arial"/>
                        </a:rPr>
                        <a:t> (SIMPUS) </a:t>
                      </a:r>
                      <a:r>
                        <a:rPr lang="en-US" sz="1400" b="0" i="0" u="none" strike="noStrike" cap="none" dirty="0" err="1" smtClean="0">
                          <a:solidFill>
                            <a:schemeClr val="tx1"/>
                          </a:solidFill>
                          <a:effectLst/>
                          <a:latin typeface="Mulish" charset="0"/>
                          <a:ea typeface="Arial"/>
                          <a:cs typeface="Arial"/>
                          <a:sym typeface="Arial"/>
                        </a:rPr>
                        <a:t>menggunakan</a:t>
                      </a:r>
                      <a:r>
                        <a:rPr lang="en-US" sz="1400" b="0" i="0" u="none" strike="noStrike" cap="none" dirty="0" smtClean="0">
                          <a:solidFill>
                            <a:schemeClr val="tx1"/>
                          </a:solidFill>
                          <a:effectLst/>
                          <a:latin typeface="Mulish" charset="0"/>
                          <a:ea typeface="Arial"/>
                          <a:cs typeface="Arial"/>
                          <a:sym typeface="Arial"/>
                        </a:rPr>
                        <a:t> website </a:t>
                      </a:r>
                      <a:r>
                        <a:rPr lang="en-US" sz="1400" b="0" i="0" u="none" strike="noStrike" cap="none" dirty="0" err="1" smtClean="0">
                          <a:solidFill>
                            <a:schemeClr val="tx1"/>
                          </a:solidFill>
                          <a:effectLst/>
                          <a:latin typeface="Mulish" charset="0"/>
                          <a:ea typeface="Arial"/>
                          <a:cs typeface="Arial"/>
                          <a:sym typeface="Arial"/>
                        </a:rPr>
                        <a:t>untuk</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meningkatkan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layanan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kepada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masyarakat</a:t>
                      </a:r>
                      <a:r>
                        <a:rPr lang="en-US" sz="1400" b="0" i="0" u="none" strike="noStrike" cap="none" dirty="0" smtClean="0">
                          <a:solidFill>
                            <a:schemeClr val="tx1"/>
                          </a:solidFill>
                          <a:effectLst/>
                          <a:latin typeface="Mulish" charset="0"/>
                          <a:ea typeface="Arial"/>
                          <a:cs typeface="Arial"/>
                          <a:sym typeface="Arial"/>
                        </a:rPr>
                        <a:t> yang </a:t>
                      </a:r>
                      <a:r>
                        <a:rPr lang="en-US" sz="1400" b="0" i="0" u="none" strike="noStrike" cap="none" dirty="0" err="1" smtClean="0">
                          <a:solidFill>
                            <a:schemeClr val="tx1"/>
                          </a:solidFill>
                          <a:effectLst/>
                          <a:latin typeface="Mulish" charset="0"/>
                          <a:ea typeface="Arial"/>
                          <a:cs typeface="Arial"/>
                          <a:sym typeface="Arial"/>
                        </a:rPr>
                        <a:t>dibangun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menggunakan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bahasa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pemprograman</a:t>
                      </a:r>
                      <a:r>
                        <a:rPr lang="en-US" sz="1400" b="0" i="0" u="none" strike="noStrike" cap="none" dirty="0" smtClean="0">
                          <a:solidFill>
                            <a:schemeClr val="tx1"/>
                          </a:solidFill>
                          <a:effectLst/>
                          <a:latin typeface="Mulish" charset="0"/>
                          <a:ea typeface="Arial"/>
                          <a:cs typeface="Arial"/>
                          <a:sym typeface="Arial"/>
                        </a:rPr>
                        <a:t> PHP </a:t>
                      </a:r>
                      <a:r>
                        <a:rPr lang="en-US" sz="1400" b="0" i="0" u="none" strike="noStrike" cap="none" dirty="0" err="1" smtClean="0">
                          <a:solidFill>
                            <a:schemeClr val="tx1"/>
                          </a:solidFill>
                          <a:effectLst/>
                          <a:latin typeface="Mulish" charset="0"/>
                          <a:ea typeface="Arial"/>
                          <a:cs typeface="Arial"/>
                          <a:sym typeface="Arial"/>
                        </a:rPr>
                        <a:t>dan</a:t>
                      </a:r>
                      <a:r>
                        <a:rPr lang="en-US" sz="1400" b="0" i="0" u="none" strike="noStrike" cap="none" dirty="0" smtClean="0">
                          <a:solidFill>
                            <a:schemeClr val="tx1"/>
                          </a:solidFill>
                          <a:effectLst/>
                          <a:latin typeface="Mulish" charset="0"/>
                          <a:ea typeface="Arial"/>
                          <a:cs typeface="Arial"/>
                          <a:sym typeface="Arial"/>
                        </a:rPr>
                        <a:t> database </a:t>
                      </a:r>
                      <a:r>
                        <a:rPr lang="en-US" sz="1400" b="0" i="0" u="none" strike="noStrike" cap="none" dirty="0" err="1" smtClean="0">
                          <a:solidFill>
                            <a:schemeClr val="tx1"/>
                          </a:solidFill>
                          <a:effectLst/>
                          <a:latin typeface="Mulish" charset="0"/>
                          <a:ea typeface="Arial"/>
                          <a:cs typeface="Arial"/>
                          <a:sym typeface="Arial"/>
                        </a:rPr>
                        <a:t>mysql</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sebagai</a:t>
                      </a:r>
                      <a:r>
                        <a:rPr lang="en-US" sz="1400" b="0" i="0" u="none" strike="noStrike" cap="none" dirty="0" smtClean="0">
                          <a:solidFill>
                            <a:schemeClr val="tx1"/>
                          </a:solidFill>
                          <a:effectLst/>
                          <a:latin typeface="Mulish" charset="0"/>
                          <a:ea typeface="Arial"/>
                          <a:cs typeface="Arial"/>
                          <a:sym typeface="Arial"/>
                        </a:rPr>
                        <a:t> media </a:t>
                      </a:r>
                      <a:r>
                        <a:rPr lang="en-US" sz="1400" b="0" i="0" u="none" strike="noStrike" cap="none" dirty="0" err="1" smtClean="0">
                          <a:solidFill>
                            <a:schemeClr val="tx1"/>
                          </a:solidFill>
                          <a:effectLst/>
                          <a:latin typeface="Mulish" charset="0"/>
                          <a:ea typeface="Arial"/>
                          <a:cs typeface="Arial"/>
                          <a:sym typeface="Arial"/>
                        </a:rPr>
                        <a:t>penyimpanan</a:t>
                      </a:r>
                      <a:r>
                        <a:rPr lang="en-US" sz="1400" b="0" i="0" u="none" strike="noStrike" cap="none" dirty="0" smtClean="0">
                          <a:solidFill>
                            <a:schemeClr val="tx1"/>
                          </a:solidFill>
                          <a:effectLst/>
                          <a:latin typeface="Mulish" charset="0"/>
                          <a:ea typeface="Arial"/>
                          <a:cs typeface="Arial"/>
                          <a:sym typeface="Arial"/>
                        </a:rPr>
                        <a:t> data</a:t>
                      </a:r>
                      <a:endParaRPr sz="1400" dirty="0">
                        <a:solidFill>
                          <a:schemeClr val="tx1"/>
                        </a:solidFill>
                        <a:latin typeface="Mulish" charset="0"/>
                        <a:ea typeface="Mulish"/>
                        <a:cs typeface="Mulish"/>
                        <a:sym typeface="Mulish"/>
                      </a:endParaRPr>
                    </a:p>
                  </a:txBody>
                  <a:tcPr marL="91425" marR="91425" marT="0" marB="0" anchor="ctr">
                    <a:lnL w="9525" cap="flat" cmpd="sng" algn="ctr">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300" name="Google Shape;300;p3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6</a:t>
            </a:r>
            <a:endParaRPr dirty="0"/>
          </a:p>
        </p:txBody>
      </p:sp>
      <p:sp>
        <p:nvSpPr>
          <p:cNvPr id="2" name="TextBox 1"/>
          <p:cNvSpPr txBox="1"/>
          <p:nvPr/>
        </p:nvSpPr>
        <p:spPr>
          <a:xfrm>
            <a:off x="755576" y="1203598"/>
            <a:ext cx="7704856" cy="861774"/>
          </a:xfrm>
          <a:prstGeom prst="rect">
            <a:avLst/>
          </a:prstGeom>
          <a:noFill/>
        </p:spPr>
        <p:txBody>
          <a:bodyPr wrap="square" rtlCol="0">
            <a:spAutoFit/>
          </a:bodyPr>
          <a:lstStyle/>
          <a:p>
            <a:pPr lvl="0"/>
            <a:r>
              <a:rPr lang="en-US" sz="1800" b="1" dirty="0" smtClean="0">
                <a:solidFill>
                  <a:schemeClr val="tx1"/>
                </a:solidFill>
                <a:latin typeface="Mulish" charset="0"/>
              </a:rPr>
              <a:t>1. </a:t>
            </a:r>
            <a:r>
              <a:rPr lang="en-US" sz="1800" b="1" dirty="0" err="1" smtClean="0">
                <a:solidFill>
                  <a:schemeClr val="tx1"/>
                </a:solidFill>
                <a:latin typeface="Mulish" charset="0"/>
              </a:rPr>
              <a:t>Sistem</a:t>
            </a:r>
            <a:r>
              <a:rPr lang="en-US" sz="1800" b="1" dirty="0" smtClean="0">
                <a:solidFill>
                  <a:schemeClr val="tx1"/>
                </a:solidFill>
                <a:latin typeface="Mulish" charset="0"/>
              </a:rPr>
              <a:t> </a:t>
            </a:r>
            <a:r>
              <a:rPr lang="en-US" sz="1800" b="1" dirty="0" err="1">
                <a:solidFill>
                  <a:schemeClr val="tx1"/>
                </a:solidFill>
                <a:latin typeface="Mulish" charset="0"/>
              </a:rPr>
              <a:t>Informasi</a:t>
            </a:r>
            <a:r>
              <a:rPr lang="en-US" sz="1800" b="1" dirty="0">
                <a:solidFill>
                  <a:schemeClr val="tx1"/>
                </a:solidFill>
                <a:latin typeface="Mulish" charset="0"/>
              </a:rPr>
              <a:t> </a:t>
            </a:r>
            <a:r>
              <a:rPr lang="en-US" sz="1800" b="1" dirty="0" err="1">
                <a:solidFill>
                  <a:schemeClr val="tx1"/>
                </a:solidFill>
                <a:latin typeface="Mulish" charset="0"/>
              </a:rPr>
              <a:t>Manajemen</a:t>
            </a:r>
            <a:r>
              <a:rPr lang="en-US" sz="1800" b="1" dirty="0">
                <a:solidFill>
                  <a:schemeClr val="tx1"/>
                </a:solidFill>
                <a:latin typeface="Mulish" charset="0"/>
              </a:rPr>
              <a:t> </a:t>
            </a:r>
            <a:r>
              <a:rPr lang="en-US" sz="1800" b="1" dirty="0" err="1">
                <a:solidFill>
                  <a:schemeClr val="tx1"/>
                </a:solidFill>
                <a:latin typeface="Mulish" charset="0"/>
              </a:rPr>
              <a:t>Puskesmas</a:t>
            </a:r>
            <a:r>
              <a:rPr lang="en-US" sz="1800" b="1" dirty="0">
                <a:solidFill>
                  <a:schemeClr val="tx1"/>
                </a:solidFill>
                <a:latin typeface="Mulish" charset="0"/>
              </a:rPr>
              <a:t> (</a:t>
            </a:r>
            <a:r>
              <a:rPr lang="en-US" sz="1800" b="1" dirty="0" err="1">
                <a:solidFill>
                  <a:schemeClr val="tx1"/>
                </a:solidFill>
                <a:latin typeface="Mulish" charset="0"/>
              </a:rPr>
              <a:t>Simpus</a:t>
            </a:r>
            <a:r>
              <a:rPr lang="en-US" sz="1800" b="1" dirty="0">
                <a:solidFill>
                  <a:schemeClr val="tx1"/>
                </a:solidFill>
                <a:latin typeface="Mulish" charset="0"/>
              </a:rPr>
              <a:t>) </a:t>
            </a:r>
            <a:r>
              <a:rPr lang="en-US" sz="1800" b="1" dirty="0" err="1">
                <a:solidFill>
                  <a:schemeClr val="tx1"/>
                </a:solidFill>
                <a:latin typeface="Mulish" charset="0"/>
              </a:rPr>
              <a:t>Pada</a:t>
            </a:r>
            <a:r>
              <a:rPr lang="en-US" sz="1800" b="1" dirty="0">
                <a:solidFill>
                  <a:schemeClr val="tx1"/>
                </a:solidFill>
                <a:latin typeface="Mulish" charset="0"/>
              </a:rPr>
              <a:t> </a:t>
            </a:r>
            <a:r>
              <a:rPr lang="en-US" sz="1800" b="1" dirty="0" err="1">
                <a:solidFill>
                  <a:schemeClr val="tx1"/>
                </a:solidFill>
                <a:latin typeface="Mulish" charset="0"/>
              </a:rPr>
              <a:t>Puskesmas</a:t>
            </a:r>
            <a:r>
              <a:rPr lang="en-US" sz="1800" b="1" dirty="0">
                <a:solidFill>
                  <a:schemeClr val="tx1"/>
                </a:solidFill>
                <a:latin typeface="Mulish" charset="0"/>
              </a:rPr>
              <a:t> BIHA </a:t>
            </a:r>
            <a:r>
              <a:rPr lang="en-US" sz="1800" b="1" dirty="0" err="1">
                <a:solidFill>
                  <a:schemeClr val="tx1"/>
                </a:solidFill>
                <a:latin typeface="Mulish" charset="0"/>
              </a:rPr>
              <a:t>Pesisir</a:t>
            </a:r>
            <a:r>
              <a:rPr lang="en-US" sz="1800" b="1" dirty="0">
                <a:solidFill>
                  <a:schemeClr val="tx1"/>
                </a:solidFill>
                <a:latin typeface="Mulish" charset="0"/>
              </a:rPr>
              <a:t> Barat Lampung</a:t>
            </a:r>
            <a:endParaRPr lang="en-US" sz="1800" b="1" dirty="0">
              <a:solidFill>
                <a:schemeClr val="tx1"/>
              </a:solidFill>
              <a:latin typeface="Mulish" charset="0"/>
              <a:ea typeface="Mulish"/>
              <a:cs typeface="Mulish"/>
              <a:sym typeface="Mulish"/>
            </a:endParaRPr>
          </a:p>
          <a:p>
            <a:endParaRPr lang="en-US" dirty="0"/>
          </a:p>
        </p:txBody>
      </p:sp>
    </p:spTree>
    <p:extLst>
      <p:ext uri="{BB962C8B-B14F-4D97-AF65-F5344CB8AC3E}">
        <p14:creationId xmlns:p14="http://schemas.microsoft.com/office/powerpoint/2010/main" val="22892552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Studi sebelumnya terkait TA</a:t>
            </a:r>
            <a:endParaRPr dirty="0"/>
          </a:p>
        </p:txBody>
      </p:sp>
      <p:graphicFrame>
        <p:nvGraphicFramePr>
          <p:cNvPr id="297" name="Google Shape;297;p30"/>
          <p:cNvGraphicFramePr/>
          <p:nvPr>
            <p:extLst>
              <p:ext uri="{D42A27DB-BD31-4B8C-83A1-F6EECF244321}">
                <p14:modId xmlns:p14="http://schemas.microsoft.com/office/powerpoint/2010/main" val="1807077918"/>
              </p:ext>
            </p:extLst>
          </p:nvPr>
        </p:nvGraphicFramePr>
        <p:xfrm>
          <a:off x="735617" y="1995686"/>
          <a:ext cx="7704000" cy="1789850"/>
        </p:xfrm>
        <a:graphic>
          <a:graphicData uri="http://schemas.openxmlformats.org/drawingml/2006/table">
            <a:tbl>
              <a:tblPr>
                <a:noFill/>
                <a:tableStyleId>{979CD968-FA2B-442A-8683-02A57468DC9F}</a:tableStyleId>
              </a:tblPr>
              <a:tblGrid>
                <a:gridCol w="2496750"/>
                <a:gridCol w="5207250"/>
              </a:tblGrid>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Nama</a:t>
                      </a:r>
                      <a:r>
                        <a:rPr lang="en" sz="1400" b="1" baseline="0" dirty="0" smtClean="0">
                          <a:solidFill>
                            <a:schemeClr val="tx1"/>
                          </a:solidFill>
                          <a:uFill>
                            <a:noFill/>
                          </a:uFill>
                          <a:latin typeface="Mulish" charset="0"/>
                          <a:ea typeface="IBM Plex Sans"/>
                          <a:cs typeface="IBM Plex Sans"/>
                          <a:sym typeface="IBM Plex Sans"/>
                        </a:rPr>
                        <a:t> Penulis</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b="0" i="0" u="none" strike="noStrike" cap="none" dirty="0" smtClean="0">
                          <a:solidFill>
                            <a:schemeClr val="tx1"/>
                          </a:solidFill>
                          <a:effectLst/>
                          <a:latin typeface="Mulish" charset="0"/>
                          <a:ea typeface="Arial"/>
                          <a:cs typeface="Arial"/>
                          <a:sym typeface="Arial"/>
                        </a:rPr>
                        <a:t>Ivan </a:t>
                      </a:r>
                      <a:r>
                        <a:rPr lang="en-US" sz="1400" b="0" i="0" u="none" strike="noStrike" cap="none" dirty="0" err="1" smtClean="0">
                          <a:solidFill>
                            <a:schemeClr val="tx1"/>
                          </a:solidFill>
                          <a:effectLst/>
                          <a:latin typeface="Mulish" charset="0"/>
                          <a:ea typeface="Arial"/>
                          <a:cs typeface="Arial"/>
                          <a:sym typeface="Arial"/>
                        </a:rPr>
                        <a:t>Tinarbudi</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Gavinov</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Fitri</a:t>
                      </a:r>
                      <a:r>
                        <a:rPr lang="en-US" sz="1400" b="0" i="0" u="none" strike="noStrike" cap="none" dirty="0" smtClean="0">
                          <a:solidFill>
                            <a:schemeClr val="tx1"/>
                          </a:solidFill>
                          <a:effectLst/>
                          <a:latin typeface="Mulish" charset="0"/>
                          <a:ea typeface="Arial"/>
                          <a:cs typeface="Arial"/>
                          <a:sym typeface="Arial"/>
                        </a:rPr>
                        <a:t> Lestari</a:t>
                      </a:r>
                      <a:endParaRPr sz="1400" dirty="0">
                        <a:solidFill>
                          <a:schemeClr val="tx1"/>
                        </a:solidFill>
                        <a:latin typeface="Mulish" charset="0"/>
                        <a:ea typeface="Mulish"/>
                        <a:cs typeface="Mulish"/>
                        <a:sym typeface="Mulish"/>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r>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Tahun Penelitian</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b="0" i="0" u="none" strike="noStrike" cap="none" dirty="0" smtClean="0">
                          <a:solidFill>
                            <a:schemeClr val="tx1"/>
                          </a:solidFill>
                          <a:effectLst/>
                          <a:latin typeface="Mulish" charset="0"/>
                          <a:ea typeface="Arial"/>
                          <a:cs typeface="Arial"/>
                          <a:sym typeface="Arial"/>
                        </a:rPr>
                        <a:t>2022</a:t>
                      </a:r>
                      <a:endParaRPr sz="1400" dirty="0">
                        <a:solidFill>
                          <a:schemeClr val="tx1"/>
                        </a:solidFill>
                        <a:latin typeface="Mulish" charset="0"/>
                        <a:ea typeface="Mulish"/>
                        <a:cs typeface="Mulish"/>
                        <a:sym typeface="Mulish"/>
                      </a:endParaRPr>
                    </a:p>
                  </a:txBody>
                  <a:tcPr marL="91425" marR="91425" marT="0" marB="0" anchor="ctr">
                    <a:lnL w="9525" cap="flat" cmpd="sng" algn="ctr">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r>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Hasil Penelitian</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400" b="0" i="0" u="none" strike="noStrike" cap="none" dirty="0" err="1" smtClean="0">
                          <a:solidFill>
                            <a:schemeClr val="tx1"/>
                          </a:solidFill>
                          <a:effectLst/>
                          <a:latin typeface="Mulish" charset="0"/>
                          <a:ea typeface="Arial"/>
                          <a:cs typeface="Arial"/>
                          <a:sym typeface="Arial"/>
                        </a:rPr>
                        <a:t>Penerapan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simpus</a:t>
                      </a:r>
                      <a:r>
                        <a:rPr lang="en-US" sz="1400" b="0" i="0" u="none" strike="noStrike" cap="none" dirty="0" smtClean="0">
                          <a:solidFill>
                            <a:schemeClr val="tx1"/>
                          </a:solidFill>
                          <a:effectLst/>
                          <a:latin typeface="Mulish" charset="0"/>
                          <a:ea typeface="Arial"/>
                          <a:cs typeface="Arial"/>
                          <a:sym typeface="Arial"/>
                        </a:rPr>
                        <a:t> di </a:t>
                      </a:r>
                      <a:r>
                        <a:rPr lang="en-US" sz="1400" b="0" i="0" u="none" strike="noStrike" cap="none" dirty="0" err="1" smtClean="0">
                          <a:solidFill>
                            <a:schemeClr val="tx1"/>
                          </a:solidFill>
                          <a:effectLst/>
                          <a:latin typeface="Mulish" charset="0"/>
                          <a:ea typeface="Arial"/>
                          <a:cs typeface="Arial"/>
                          <a:sym typeface="Arial"/>
                        </a:rPr>
                        <a:t>puskesmas</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Banguntapan</a:t>
                      </a:r>
                      <a:r>
                        <a:rPr lang="en-US" sz="1400" b="0" i="0" u="none" strike="noStrike" cap="none" dirty="0" smtClean="0">
                          <a:solidFill>
                            <a:schemeClr val="tx1"/>
                          </a:solidFill>
                          <a:effectLst/>
                          <a:latin typeface="Mulish" charset="0"/>
                          <a:ea typeface="Arial"/>
                          <a:cs typeface="Arial"/>
                          <a:sym typeface="Arial"/>
                        </a:rPr>
                        <a:t> I </a:t>
                      </a:r>
                      <a:r>
                        <a:rPr lang="en-US" sz="1400" b="0" i="0" u="none" strike="noStrike" cap="none" dirty="0" err="1" smtClean="0">
                          <a:solidFill>
                            <a:schemeClr val="tx1"/>
                          </a:solidFill>
                          <a:effectLst/>
                          <a:latin typeface="Mulish" charset="0"/>
                          <a:ea typeface="Arial"/>
                          <a:cs typeface="Arial"/>
                          <a:sym typeface="Arial"/>
                        </a:rPr>
                        <a:t>sudah</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beroperasional</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selama</a:t>
                      </a:r>
                      <a:r>
                        <a:rPr lang="en-US" sz="1400" b="0" i="0" u="none" strike="noStrike" cap="none" dirty="0" smtClean="0">
                          <a:solidFill>
                            <a:schemeClr val="tx1"/>
                          </a:solidFill>
                          <a:effectLst/>
                          <a:latin typeface="Mulish" charset="0"/>
                          <a:ea typeface="Arial"/>
                          <a:cs typeface="Arial"/>
                          <a:sym typeface="Arial"/>
                        </a:rPr>
                        <a:t> 1 </a:t>
                      </a:r>
                      <a:r>
                        <a:rPr lang="en-US" sz="1400" b="0" i="0" u="none" strike="noStrike" cap="none" dirty="0" err="1" smtClean="0">
                          <a:solidFill>
                            <a:schemeClr val="tx1"/>
                          </a:solidFill>
                          <a:effectLst/>
                          <a:latin typeface="Mulish" charset="0"/>
                          <a:ea typeface="Arial"/>
                          <a:cs typeface="Arial"/>
                          <a:sym typeface="Arial"/>
                        </a:rPr>
                        <a:t>tahun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lebih</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dan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masih</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banyak</a:t>
                      </a:r>
                      <a:r>
                        <a:rPr lang="en-US" sz="1400" b="0" i="0" u="none" strike="noStrike" cap="none" dirty="0" smtClean="0">
                          <a:solidFill>
                            <a:schemeClr val="tx1"/>
                          </a:solidFill>
                          <a:effectLst/>
                          <a:latin typeface="Mulish" charset="0"/>
                          <a:ea typeface="Arial"/>
                          <a:cs typeface="Arial"/>
                          <a:sym typeface="Arial"/>
                        </a:rPr>
                        <a:t> yang </a:t>
                      </a:r>
                      <a:r>
                        <a:rPr lang="en-US" sz="1400" b="0" i="0" u="none" strike="noStrike" cap="none" dirty="0" err="1" smtClean="0">
                          <a:solidFill>
                            <a:schemeClr val="tx1"/>
                          </a:solidFill>
                          <a:effectLst/>
                          <a:latin typeface="Mulish" charset="0"/>
                          <a:ea typeface="Arial"/>
                          <a:cs typeface="Arial"/>
                          <a:sym typeface="Arial"/>
                        </a:rPr>
                        <a:t>harus</a:t>
                      </a:r>
                      <a:r>
                        <a:rPr lang="en-US" sz="1400" b="0" i="0" u="none" strike="noStrike" cap="none" dirty="0" smtClean="0">
                          <a:solidFill>
                            <a:schemeClr val="tx1"/>
                          </a:solidFill>
                          <a:effectLst/>
                          <a:latin typeface="Mulish" charset="0"/>
                          <a:ea typeface="Arial"/>
                          <a:cs typeface="Arial"/>
                          <a:sym typeface="Arial"/>
                        </a:rPr>
                        <a:t> di </a:t>
                      </a:r>
                      <a:r>
                        <a:rPr lang="en-US" sz="1400" b="0" i="0" u="none" strike="noStrike" cap="none" dirty="0" err="1" smtClean="0">
                          <a:solidFill>
                            <a:schemeClr val="tx1"/>
                          </a:solidFill>
                          <a:effectLst/>
                          <a:latin typeface="Mulish" charset="0"/>
                          <a:ea typeface="Arial"/>
                          <a:cs typeface="Arial"/>
                          <a:sym typeface="Arial"/>
                        </a:rPr>
                        <a:t>lakukan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perbaikan</a:t>
                      </a:r>
                      <a:r>
                        <a:rPr lang="en-US" sz="1400" b="0" i="0" u="none" strike="noStrike" cap="none" dirty="0" smtClean="0">
                          <a:solidFill>
                            <a:schemeClr val="tx1"/>
                          </a:solidFill>
                          <a:effectLst/>
                          <a:latin typeface="Mulish" charset="0"/>
                          <a:ea typeface="Arial"/>
                          <a:cs typeface="Arial"/>
                          <a:sym typeface="Arial"/>
                        </a:rPr>
                        <a:t> – </a:t>
                      </a:r>
                      <a:r>
                        <a:rPr lang="en-US" sz="1400" b="0" i="0" u="none" strike="noStrike" cap="none" dirty="0" err="1" smtClean="0">
                          <a:solidFill>
                            <a:schemeClr val="tx1"/>
                          </a:solidFill>
                          <a:effectLst/>
                          <a:latin typeface="Mulish" charset="0"/>
                          <a:ea typeface="Arial"/>
                          <a:cs typeface="Arial"/>
                          <a:sym typeface="Arial"/>
                        </a:rPr>
                        <a:t>perbaikan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dari</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sistem</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informasi</a:t>
                      </a:r>
                      <a:r>
                        <a:rPr lang="en-US" sz="1400" b="0" i="0" u="none" strike="noStrike" cap="none" dirty="0" smtClean="0">
                          <a:solidFill>
                            <a:schemeClr val="tx1"/>
                          </a:solidFill>
                          <a:effectLst/>
                          <a:latin typeface="Mulish" charset="0"/>
                          <a:ea typeface="Arial"/>
                          <a:cs typeface="Arial"/>
                          <a:sym typeface="Arial"/>
                        </a:rPr>
                        <a:t> yang </a:t>
                      </a:r>
                      <a:r>
                        <a:rPr lang="en-US" sz="1400" b="0" i="0" u="none" strike="noStrike" cap="none" dirty="0" err="1" smtClean="0">
                          <a:solidFill>
                            <a:schemeClr val="tx1"/>
                          </a:solidFill>
                          <a:effectLst/>
                          <a:latin typeface="Mulish" charset="0"/>
                          <a:ea typeface="Arial"/>
                          <a:cs typeface="Arial"/>
                          <a:sym typeface="Arial"/>
                        </a:rPr>
                        <a:t>ada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pada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simpus</a:t>
                      </a:r>
                      <a:r>
                        <a:rPr lang="en-US" sz="1400" b="0" i="0" u="none" strike="noStrike" cap="none" dirty="0" smtClean="0">
                          <a:solidFill>
                            <a:schemeClr val="tx1"/>
                          </a:solidFill>
                          <a:effectLst/>
                          <a:latin typeface="Mulish" charset="0"/>
                          <a:ea typeface="Arial"/>
                          <a:cs typeface="Arial"/>
                          <a:sym typeface="Arial"/>
                        </a:rPr>
                        <a:t> yang </a:t>
                      </a:r>
                      <a:r>
                        <a:rPr lang="en-US" sz="1400" b="0" i="0" u="none" strike="noStrike" cap="none" dirty="0" err="1" smtClean="0">
                          <a:solidFill>
                            <a:schemeClr val="tx1"/>
                          </a:solidFill>
                          <a:effectLst/>
                          <a:latin typeface="Mulish" charset="0"/>
                          <a:ea typeface="Arial"/>
                          <a:cs typeface="Arial"/>
                          <a:sym typeface="Arial"/>
                        </a:rPr>
                        <a:t>mana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akan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dapat</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meningkatkan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pelayanan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puskesmas</a:t>
                      </a:r>
                      <a:r>
                        <a:rPr lang="en-US" sz="1400" b="0" i="0" u="none" strike="noStrike" cap="none" dirty="0" smtClean="0">
                          <a:solidFill>
                            <a:schemeClr val="tx1"/>
                          </a:solidFill>
                          <a:effectLst/>
                          <a:latin typeface="Mulish" charset="0"/>
                          <a:ea typeface="Arial"/>
                          <a:cs typeface="Arial"/>
                          <a:sym typeface="Arial"/>
                        </a:rPr>
                        <a:t>.</a:t>
                      </a:r>
                      <a:endParaRPr sz="1400" dirty="0">
                        <a:solidFill>
                          <a:schemeClr val="tx1"/>
                        </a:solidFill>
                        <a:latin typeface="Mulish" charset="0"/>
                        <a:ea typeface="Mulish"/>
                        <a:cs typeface="Mulish"/>
                        <a:sym typeface="Mulish"/>
                      </a:endParaRPr>
                    </a:p>
                  </a:txBody>
                  <a:tcPr marL="91425" marR="91425" marT="0" marB="0" anchor="ctr">
                    <a:lnL w="9525" cap="flat" cmpd="sng" algn="ctr">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300" name="Google Shape;300;p3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7</a:t>
            </a:r>
            <a:endParaRPr dirty="0"/>
          </a:p>
        </p:txBody>
      </p:sp>
      <p:sp>
        <p:nvSpPr>
          <p:cNvPr id="2" name="TextBox 1"/>
          <p:cNvSpPr txBox="1"/>
          <p:nvPr/>
        </p:nvSpPr>
        <p:spPr>
          <a:xfrm>
            <a:off x="755576" y="1203598"/>
            <a:ext cx="7704856" cy="646331"/>
          </a:xfrm>
          <a:prstGeom prst="rect">
            <a:avLst/>
          </a:prstGeom>
          <a:noFill/>
        </p:spPr>
        <p:txBody>
          <a:bodyPr wrap="square" rtlCol="0">
            <a:spAutoFit/>
          </a:bodyPr>
          <a:lstStyle/>
          <a:p>
            <a:pPr lvl="0"/>
            <a:r>
              <a:rPr lang="en-US" sz="1800" b="1" dirty="0">
                <a:solidFill>
                  <a:schemeClr val="tx1"/>
                </a:solidFill>
                <a:latin typeface="Mulish" charset="0"/>
              </a:rPr>
              <a:t>2</a:t>
            </a:r>
            <a:r>
              <a:rPr lang="en-US" sz="1800" b="1" dirty="0" smtClean="0">
                <a:solidFill>
                  <a:schemeClr val="tx1"/>
                </a:solidFill>
                <a:latin typeface="Mulish" charset="0"/>
              </a:rPr>
              <a:t>. </a:t>
            </a:r>
            <a:r>
              <a:rPr lang="en-US" sz="1800" b="1" dirty="0" err="1">
                <a:solidFill>
                  <a:schemeClr val="tx1"/>
                </a:solidFill>
                <a:latin typeface="Mulish" charset="0"/>
              </a:rPr>
              <a:t>Penerapan</a:t>
            </a:r>
            <a:r>
              <a:rPr lang="en-US" sz="1800" b="1" dirty="0">
                <a:solidFill>
                  <a:schemeClr val="tx1"/>
                </a:solidFill>
                <a:latin typeface="Mulish" charset="0"/>
              </a:rPr>
              <a:t> </a:t>
            </a:r>
            <a:r>
              <a:rPr lang="en-US" sz="1800" b="1" dirty="0" err="1">
                <a:solidFill>
                  <a:schemeClr val="tx1"/>
                </a:solidFill>
                <a:latin typeface="Mulish" charset="0"/>
              </a:rPr>
              <a:t>Sistem</a:t>
            </a:r>
            <a:r>
              <a:rPr lang="en-US" sz="1800" b="1" dirty="0">
                <a:solidFill>
                  <a:schemeClr val="tx1"/>
                </a:solidFill>
                <a:latin typeface="Mulish" charset="0"/>
              </a:rPr>
              <a:t> </a:t>
            </a:r>
            <a:r>
              <a:rPr lang="en-US" sz="1800" b="1" dirty="0" err="1">
                <a:solidFill>
                  <a:schemeClr val="tx1"/>
                </a:solidFill>
                <a:latin typeface="Mulish" charset="0"/>
              </a:rPr>
              <a:t>Informasi</a:t>
            </a:r>
            <a:r>
              <a:rPr lang="en-US" sz="1800" b="1" dirty="0">
                <a:solidFill>
                  <a:schemeClr val="tx1"/>
                </a:solidFill>
                <a:latin typeface="Mulish" charset="0"/>
              </a:rPr>
              <a:t> </a:t>
            </a:r>
            <a:r>
              <a:rPr lang="en-US" sz="1800" b="1" dirty="0" err="1">
                <a:solidFill>
                  <a:schemeClr val="tx1"/>
                </a:solidFill>
                <a:latin typeface="Mulish" charset="0"/>
              </a:rPr>
              <a:t>Manajemen</a:t>
            </a:r>
            <a:r>
              <a:rPr lang="en-US" sz="1800" b="1" dirty="0">
                <a:solidFill>
                  <a:schemeClr val="tx1"/>
                </a:solidFill>
                <a:latin typeface="Mulish" charset="0"/>
              </a:rPr>
              <a:t> </a:t>
            </a:r>
            <a:r>
              <a:rPr lang="en-US" sz="1800" b="1" dirty="0" err="1">
                <a:solidFill>
                  <a:schemeClr val="tx1"/>
                </a:solidFill>
                <a:latin typeface="Mulish" charset="0"/>
              </a:rPr>
              <a:t>Puskesmas</a:t>
            </a:r>
            <a:r>
              <a:rPr lang="en-US" sz="1800" b="1" dirty="0">
                <a:solidFill>
                  <a:schemeClr val="tx1"/>
                </a:solidFill>
                <a:latin typeface="Mulish" charset="0"/>
              </a:rPr>
              <a:t> (</a:t>
            </a:r>
            <a:r>
              <a:rPr lang="en-US" sz="1800" b="1" dirty="0" err="1">
                <a:solidFill>
                  <a:schemeClr val="tx1"/>
                </a:solidFill>
                <a:latin typeface="Mulish" charset="0"/>
              </a:rPr>
              <a:t>Simpus</a:t>
            </a:r>
            <a:r>
              <a:rPr lang="en-US" sz="1800" b="1" dirty="0">
                <a:solidFill>
                  <a:schemeClr val="tx1"/>
                </a:solidFill>
                <a:latin typeface="Mulish" charset="0"/>
              </a:rPr>
              <a:t>) </a:t>
            </a:r>
            <a:r>
              <a:rPr lang="en-US" sz="1800" b="1" dirty="0" err="1">
                <a:solidFill>
                  <a:schemeClr val="tx1"/>
                </a:solidFill>
                <a:latin typeface="Mulish" charset="0"/>
              </a:rPr>
              <a:t>Dalam</a:t>
            </a:r>
            <a:r>
              <a:rPr lang="en-US" sz="1800" b="1" dirty="0">
                <a:solidFill>
                  <a:schemeClr val="tx1"/>
                </a:solidFill>
                <a:latin typeface="Mulish" charset="0"/>
              </a:rPr>
              <a:t> </a:t>
            </a:r>
            <a:r>
              <a:rPr lang="en-US" sz="1800" b="1" dirty="0" err="1">
                <a:solidFill>
                  <a:schemeClr val="tx1"/>
                </a:solidFill>
                <a:latin typeface="Mulish" charset="0"/>
              </a:rPr>
              <a:t>Pelayanan</a:t>
            </a:r>
            <a:r>
              <a:rPr lang="en-US" sz="1800" b="1" dirty="0">
                <a:solidFill>
                  <a:schemeClr val="tx1"/>
                </a:solidFill>
                <a:latin typeface="Mulish" charset="0"/>
              </a:rPr>
              <a:t> </a:t>
            </a:r>
            <a:r>
              <a:rPr lang="en-US" sz="1800" b="1" dirty="0" err="1">
                <a:solidFill>
                  <a:schemeClr val="tx1"/>
                </a:solidFill>
                <a:latin typeface="Mulish" charset="0"/>
              </a:rPr>
              <a:t>Publik</a:t>
            </a:r>
            <a:endParaRPr lang="en-US" b="1" dirty="0">
              <a:solidFill>
                <a:schemeClr val="tx1"/>
              </a:solidFill>
              <a:latin typeface="Mulish" charset="0"/>
            </a:endParaRPr>
          </a:p>
        </p:txBody>
      </p:sp>
    </p:spTree>
    <p:extLst>
      <p:ext uri="{BB962C8B-B14F-4D97-AF65-F5344CB8AC3E}">
        <p14:creationId xmlns:p14="http://schemas.microsoft.com/office/powerpoint/2010/main" val="23532090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Studi sebelumnya terkait TA</a:t>
            </a:r>
            <a:endParaRPr dirty="0"/>
          </a:p>
        </p:txBody>
      </p:sp>
      <p:graphicFrame>
        <p:nvGraphicFramePr>
          <p:cNvPr id="297" name="Google Shape;297;p30"/>
          <p:cNvGraphicFramePr/>
          <p:nvPr>
            <p:extLst>
              <p:ext uri="{D42A27DB-BD31-4B8C-83A1-F6EECF244321}">
                <p14:modId xmlns:p14="http://schemas.microsoft.com/office/powerpoint/2010/main" val="3458422492"/>
              </p:ext>
            </p:extLst>
          </p:nvPr>
        </p:nvGraphicFramePr>
        <p:xfrm>
          <a:off x="735617" y="1995686"/>
          <a:ext cx="7704000" cy="1576490"/>
        </p:xfrm>
        <a:graphic>
          <a:graphicData uri="http://schemas.openxmlformats.org/drawingml/2006/table">
            <a:tbl>
              <a:tblPr>
                <a:noFill/>
                <a:tableStyleId>{979CD968-FA2B-442A-8683-02A57468DC9F}</a:tableStyleId>
              </a:tblPr>
              <a:tblGrid>
                <a:gridCol w="2496750"/>
                <a:gridCol w="5207250"/>
              </a:tblGrid>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Nama</a:t>
                      </a:r>
                      <a:r>
                        <a:rPr lang="en" sz="1400" b="1" baseline="0" dirty="0" smtClean="0">
                          <a:solidFill>
                            <a:schemeClr val="tx1"/>
                          </a:solidFill>
                          <a:uFill>
                            <a:noFill/>
                          </a:uFill>
                          <a:latin typeface="Mulish" charset="0"/>
                          <a:ea typeface="IBM Plex Sans"/>
                          <a:cs typeface="IBM Plex Sans"/>
                          <a:sym typeface="IBM Plex Sans"/>
                        </a:rPr>
                        <a:t> Penulis</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b="0" i="0" u="none" strike="noStrike" cap="none" dirty="0" err="1" smtClean="0">
                          <a:solidFill>
                            <a:schemeClr val="tx1"/>
                          </a:solidFill>
                          <a:effectLst/>
                          <a:latin typeface="Mulish" charset="0"/>
                          <a:ea typeface="Arial"/>
                          <a:cs typeface="Arial"/>
                          <a:sym typeface="Arial"/>
                        </a:rPr>
                        <a:t>Heru</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Saputra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Arfan</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Pratama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Sotar</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Ilfa</a:t>
                      </a:r>
                      <a:r>
                        <a:rPr lang="en-US" sz="1400" b="0" i="0" u="none" strike="noStrike" cap="none" dirty="0" smtClean="0">
                          <a:solidFill>
                            <a:schemeClr val="tx1"/>
                          </a:solidFill>
                          <a:effectLst/>
                          <a:latin typeface="Mulish" charset="0"/>
                          <a:ea typeface="Arial"/>
                          <a:cs typeface="Arial"/>
                          <a:sym typeface="Arial"/>
                        </a:rPr>
                        <a:t> </a:t>
                      </a:r>
                      <a:r>
                        <a:rPr lang="en-US" sz="1400" b="0" i="0" u="none" strike="noStrike" cap="none" dirty="0" err="1" smtClean="0">
                          <a:solidFill>
                            <a:schemeClr val="tx1"/>
                          </a:solidFill>
                          <a:effectLst/>
                          <a:latin typeface="Mulish" charset="0"/>
                          <a:ea typeface="Arial"/>
                          <a:cs typeface="Arial"/>
                          <a:sym typeface="Arial"/>
                        </a:rPr>
                        <a:t>Stephane</a:t>
                      </a:r>
                      <a:endParaRPr sz="1400" dirty="0">
                        <a:solidFill>
                          <a:schemeClr val="tx1"/>
                        </a:solidFill>
                        <a:latin typeface="Mulish" charset="0"/>
                        <a:ea typeface="Mulish"/>
                        <a:cs typeface="Mulish"/>
                        <a:sym typeface="Mulish"/>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r>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Tahun Penelitian</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b="0" i="0" u="none" strike="noStrike" cap="none" dirty="0" smtClean="0">
                          <a:solidFill>
                            <a:schemeClr val="tx1"/>
                          </a:solidFill>
                          <a:effectLst/>
                          <a:latin typeface="Mulish" charset="0"/>
                          <a:ea typeface="Arial"/>
                          <a:cs typeface="Arial"/>
                          <a:sym typeface="Arial"/>
                        </a:rPr>
                        <a:t>2022</a:t>
                      </a:r>
                      <a:endParaRPr sz="1400" dirty="0">
                        <a:solidFill>
                          <a:schemeClr val="tx1"/>
                        </a:solidFill>
                        <a:latin typeface="Mulish" charset="0"/>
                        <a:ea typeface="Mulish"/>
                        <a:cs typeface="Mulish"/>
                        <a:sym typeface="Mulish"/>
                      </a:endParaRPr>
                    </a:p>
                  </a:txBody>
                  <a:tcPr marL="91425" marR="91425" marT="0" marB="0" anchor="ctr">
                    <a:lnL w="9525" cap="flat" cmpd="sng" algn="ctr">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r>
              <a:tr h="361525">
                <a:tc>
                  <a:txBody>
                    <a:bodyPr/>
                    <a:lstStyle/>
                    <a:p>
                      <a:pPr marL="0" lvl="0" indent="0" algn="l" rtl="0">
                        <a:spcBef>
                          <a:spcPts val="0"/>
                        </a:spcBef>
                        <a:spcAft>
                          <a:spcPts val="0"/>
                        </a:spcAft>
                        <a:buNone/>
                      </a:pPr>
                      <a:r>
                        <a:rPr lang="en" sz="1400" b="1" dirty="0" smtClean="0">
                          <a:solidFill>
                            <a:schemeClr val="tx1"/>
                          </a:solidFill>
                          <a:uFill>
                            <a:noFill/>
                          </a:uFill>
                          <a:latin typeface="Mulish" charset="0"/>
                          <a:ea typeface="IBM Plex Sans"/>
                          <a:cs typeface="IBM Plex Sans"/>
                          <a:sym typeface="IBM Plex Sans"/>
                        </a:rPr>
                        <a:t>Hasil Penelitian</a:t>
                      </a:r>
                      <a:endParaRPr sz="1400" b="1" dirty="0">
                        <a:solidFill>
                          <a:schemeClr val="tx1"/>
                        </a:solidFill>
                        <a:latin typeface="Mulish" charset="0"/>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algn="just">
                        <a:spcAft>
                          <a:spcPts val="0"/>
                        </a:spcAft>
                      </a:pPr>
                      <a:r>
                        <a:rPr lang="en-US" sz="1400" dirty="0" err="1" smtClean="0">
                          <a:solidFill>
                            <a:schemeClr val="tx1"/>
                          </a:solidFill>
                          <a:effectLst/>
                          <a:latin typeface="Mulish" charset="0"/>
                          <a:ea typeface="Times New Roman"/>
                        </a:rPr>
                        <a:t>Dengan</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adanya</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sistem</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informasi</a:t>
                      </a:r>
                      <a:r>
                        <a:rPr lang="en-US" sz="1400" dirty="0" smtClean="0">
                          <a:solidFill>
                            <a:schemeClr val="tx1"/>
                          </a:solidFill>
                          <a:effectLst/>
                          <a:latin typeface="Mulish" charset="0"/>
                          <a:ea typeface="Times New Roman"/>
                        </a:rPr>
                        <a:t> yang di </a:t>
                      </a:r>
                      <a:r>
                        <a:rPr lang="en-US" sz="1400" dirty="0" err="1" smtClean="0">
                          <a:solidFill>
                            <a:schemeClr val="tx1"/>
                          </a:solidFill>
                          <a:effectLst/>
                          <a:latin typeface="Mulish" charset="0"/>
                          <a:ea typeface="Times New Roman"/>
                        </a:rPr>
                        <a:t>buat</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maka</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dapat</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mempermudah</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dalam</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membuat</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pendaftaraan</a:t>
                      </a:r>
                      <a:endParaRPr lang="en-US" sz="1400" dirty="0" smtClean="0">
                        <a:solidFill>
                          <a:schemeClr val="tx1"/>
                        </a:solidFill>
                        <a:effectLst/>
                        <a:latin typeface="Mulish" charset="0"/>
                        <a:ea typeface="Times New Roman"/>
                      </a:endParaRPr>
                    </a:p>
                    <a:p>
                      <a:pPr algn="just">
                        <a:spcAft>
                          <a:spcPts val="0"/>
                        </a:spcAft>
                      </a:pPr>
                      <a:r>
                        <a:rPr lang="en-US" sz="1400" dirty="0" err="1" smtClean="0">
                          <a:solidFill>
                            <a:schemeClr val="tx1"/>
                          </a:solidFill>
                          <a:effectLst/>
                          <a:latin typeface="Mulish" charset="0"/>
                          <a:ea typeface="Times New Roman"/>
                        </a:rPr>
                        <a:t>hewan</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jadwal</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hewan</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dan</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laporan</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hewan</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serta</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dapat</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mempermudah</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dalam</a:t>
                      </a:r>
                      <a:r>
                        <a:rPr lang="en-US" sz="1400" dirty="0" smtClean="0">
                          <a:solidFill>
                            <a:schemeClr val="tx1"/>
                          </a:solidFill>
                          <a:effectLst/>
                          <a:latin typeface="Mulish" charset="0"/>
                          <a:ea typeface="Times New Roman"/>
                        </a:rPr>
                        <a:t> </a:t>
                      </a:r>
                      <a:r>
                        <a:rPr lang="en-US" sz="1400" dirty="0" err="1" smtClean="0">
                          <a:solidFill>
                            <a:schemeClr val="tx1"/>
                          </a:solidFill>
                          <a:effectLst/>
                          <a:latin typeface="Mulish" charset="0"/>
                          <a:ea typeface="Times New Roman"/>
                        </a:rPr>
                        <a:t>penyimpanan</a:t>
                      </a:r>
                      <a:r>
                        <a:rPr lang="en-US" sz="1400" dirty="0" smtClean="0">
                          <a:solidFill>
                            <a:schemeClr val="tx1"/>
                          </a:solidFill>
                          <a:effectLst/>
                          <a:latin typeface="Mulish" charset="0"/>
                          <a:ea typeface="Times New Roman"/>
                        </a:rPr>
                        <a:t> data</a:t>
                      </a:r>
                      <a:endParaRPr lang="en-US" sz="1400" dirty="0">
                        <a:solidFill>
                          <a:schemeClr val="tx1"/>
                        </a:solidFill>
                        <a:effectLst/>
                        <a:latin typeface="Mulish" charset="0"/>
                        <a:ea typeface="Times New Roman"/>
                      </a:endParaRPr>
                    </a:p>
                  </a:txBody>
                  <a:tcPr marL="114300" marR="114300" marT="0" marB="0">
                    <a:lnL w="9525" cap="flat" cmpd="sng" algn="ctr">
                      <a:solidFill>
                        <a:schemeClr val="dk1"/>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300" name="Google Shape;300;p3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8</a:t>
            </a:r>
            <a:endParaRPr dirty="0"/>
          </a:p>
        </p:txBody>
      </p:sp>
      <p:sp>
        <p:nvSpPr>
          <p:cNvPr id="2" name="TextBox 1"/>
          <p:cNvSpPr txBox="1"/>
          <p:nvPr/>
        </p:nvSpPr>
        <p:spPr>
          <a:xfrm>
            <a:off x="755576" y="1203598"/>
            <a:ext cx="7704856" cy="646331"/>
          </a:xfrm>
          <a:prstGeom prst="rect">
            <a:avLst/>
          </a:prstGeom>
          <a:noFill/>
        </p:spPr>
        <p:txBody>
          <a:bodyPr wrap="square" rtlCol="0">
            <a:spAutoFit/>
          </a:bodyPr>
          <a:lstStyle/>
          <a:p>
            <a:pPr lvl="0"/>
            <a:r>
              <a:rPr lang="en-US" sz="1800" b="1" dirty="0" smtClean="0">
                <a:solidFill>
                  <a:schemeClr val="tx1"/>
                </a:solidFill>
                <a:latin typeface="Mulish" charset="0"/>
              </a:rPr>
              <a:t>3. </a:t>
            </a:r>
            <a:r>
              <a:rPr lang="en-US" sz="1800" b="1" dirty="0" err="1" smtClean="0">
                <a:solidFill>
                  <a:schemeClr val="tx1"/>
                </a:solidFill>
                <a:latin typeface="Mulish" charset="0"/>
              </a:rPr>
              <a:t>Perancangan</a:t>
            </a:r>
            <a:r>
              <a:rPr lang="en-US" sz="1800" b="1" dirty="0" smtClean="0">
                <a:solidFill>
                  <a:schemeClr val="tx1"/>
                </a:solidFill>
                <a:latin typeface="Mulish" charset="0"/>
              </a:rPr>
              <a:t> </a:t>
            </a:r>
            <a:r>
              <a:rPr lang="en-US" sz="1800" b="1" dirty="0" err="1" smtClean="0">
                <a:solidFill>
                  <a:schemeClr val="tx1"/>
                </a:solidFill>
                <a:latin typeface="Mulish" charset="0"/>
              </a:rPr>
              <a:t>Sistem</a:t>
            </a:r>
            <a:r>
              <a:rPr lang="en-US" sz="1800" b="1" dirty="0" smtClean="0">
                <a:solidFill>
                  <a:schemeClr val="tx1"/>
                </a:solidFill>
                <a:latin typeface="Mulish" charset="0"/>
              </a:rPr>
              <a:t> </a:t>
            </a:r>
            <a:r>
              <a:rPr lang="en-US" sz="1800" b="1" dirty="0" err="1" smtClean="0">
                <a:solidFill>
                  <a:schemeClr val="tx1"/>
                </a:solidFill>
                <a:latin typeface="Mulish" charset="0"/>
              </a:rPr>
              <a:t>Informasi</a:t>
            </a:r>
            <a:r>
              <a:rPr lang="en-US" sz="1800" b="1" dirty="0" smtClean="0">
                <a:solidFill>
                  <a:schemeClr val="tx1"/>
                </a:solidFill>
                <a:latin typeface="Mulish" charset="0"/>
              </a:rPr>
              <a:t> </a:t>
            </a:r>
            <a:r>
              <a:rPr lang="en-US" sz="1800" b="1" dirty="0" err="1" smtClean="0">
                <a:solidFill>
                  <a:schemeClr val="tx1"/>
                </a:solidFill>
                <a:latin typeface="Mulish" charset="0"/>
              </a:rPr>
              <a:t>Puskeswan</a:t>
            </a:r>
            <a:r>
              <a:rPr lang="en-US" sz="1800" b="1" dirty="0" smtClean="0">
                <a:solidFill>
                  <a:schemeClr val="tx1"/>
                </a:solidFill>
                <a:latin typeface="Mulish" charset="0"/>
              </a:rPr>
              <a:t> di Kota </a:t>
            </a:r>
            <a:r>
              <a:rPr lang="en-US" sz="1800" b="1" dirty="0" err="1" smtClean="0">
                <a:solidFill>
                  <a:schemeClr val="tx1"/>
                </a:solidFill>
                <a:latin typeface="Mulish" charset="0"/>
              </a:rPr>
              <a:t>Pariaman</a:t>
            </a:r>
            <a:r>
              <a:rPr lang="en-US" sz="1800" b="1" dirty="0" smtClean="0">
                <a:solidFill>
                  <a:schemeClr val="tx1"/>
                </a:solidFill>
                <a:latin typeface="Mulish" charset="0"/>
              </a:rPr>
              <a:t> </a:t>
            </a:r>
            <a:r>
              <a:rPr lang="en-US" sz="1800" b="1" dirty="0" err="1" smtClean="0">
                <a:solidFill>
                  <a:schemeClr val="tx1"/>
                </a:solidFill>
                <a:latin typeface="Mulish" charset="0"/>
              </a:rPr>
              <a:t>Berbasis</a:t>
            </a:r>
            <a:r>
              <a:rPr lang="en-US" sz="1800" b="1" dirty="0" smtClean="0">
                <a:solidFill>
                  <a:schemeClr val="tx1"/>
                </a:solidFill>
                <a:latin typeface="Mulish" charset="0"/>
              </a:rPr>
              <a:t> Website</a:t>
            </a:r>
            <a:endParaRPr lang="en-US" b="1" dirty="0">
              <a:solidFill>
                <a:schemeClr val="tx1"/>
              </a:solidFill>
              <a:latin typeface="Mulish" charset="0"/>
            </a:endParaRPr>
          </a:p>
        </p:txBody>
      </p:sp>
    </p:spTree>
    <p:extLst>
      <p:ext uri="{BB962C8B-B14F-4D97-AF65-F5344CB8AC3E}">
        <p14:creationId xmlns:p14="http://schemas.microsoft.com/office/powerpoint/2010/main" val="27107829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1600600" y="1916763"/>
            <a:ext cx="3403448"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t>BAB</a:t>
            </a:r>
            <a:endParaRPr dirty="0"/>
          </a:p>
        </p:txBody>
      </p:sp>
      <p:sp>
        <p:nvSpPr>
          <p:cNvPr id="330" name="Google Shape;330;p32"/>
          <p:cNvSpPr txBox="1">
            <a:spLocks noGrp="1"/>
          </p:cNvSpPr>
          <p:nvPr>
            <p:ph type="subTitle" idx="1"/>
          </p:nvPr>
        </p:nvSpPr>
        <p:spPr>
          <a:xfrm>
            <a:off x="1959250" y="3003798"/>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600" b="1" dirty="0" smtClean="0">
                <a:latin typeface="Quicksand" charset="0"/>
              </a:rPr>
              <a:t>Metodologi Penelitian</a:t>
            </a:r>
            <a:endParaRPr sz="1600" b="1" dirty="0">
              <a:latin typeface="Quicksand" charset="0"/>
            </a:endParaRPr>
          </a:p>
        </p:txBody>
      </p:sp>
      <p:sp>
        <p:nvSpPr>
          <p:cNvPr id="331" name="Google Shape;331;p32"/>
          <p:cNvSpPr txBox="1">
            <a:spLocks noGrp="1"/>
          </p:cNvSpPr>
          <p:nvPr>
            <p:ph type="title" idx="2"/>
          </p:nvPr>
        </p:nvSpPr>
        <p:spPr>
          <a:xfrm>
            <a:off x="4932040" y="1916763"/>
            <a:ext cx="2197912"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3</a:t>
            </a:r>
            <a:endParaRPr dirty="0"/>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9</a:t>
            </a:r>
            <a:endParaRPr dirty="0"/>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1610824"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2483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Kerangka Penelitian</a:t>
            </a:r>
            <a:endParaRPr dirty="0"/>
          </a:p>
        </p:txBody>
      </p:sp>
      <p:sp>
        <p:nvSpPr>
          <p:cNvPr id="310" name="Google Shape;310;p31"/>
          <p:cNvSpPr txBox="1">
            <a:spLocks noGrp="1"/>
          </p:cNvSpPr>
          <p:nvPr>
            <p:ph type="title" idx="5"/>
          </p:nvPr>
        </p:nvSpPr>
        <p:spPr>
          <a:xfrm>
            <a:off x="713225" y="1645345"/>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311" name="Google Shape;311;p31"/>
          <p:cNvSpPr txBox="1">
            <a:spLocks noGrp="1"/>
          </p:cNvSpPr>
          <p:nvPr>
            <p:ph type="title" idx="6"/>
          </p:nvPr>
        </p:nvSpPr>
        <p:spPr>
          <a:xfrm>
            <a:off x="3359125" y="2994063"/>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312" name="Google Shape;312;p31"/>
          <p:cNvSpPr txBox="1">
            <a:spLocks noGrp="1"/>
          </p:cNvSpPr>
          <p:nvPr>
            <p:ph type="title" idx="7"/>
          </p:nvPr>
        </p:nvSpPr>
        <p:spPr>
          <a:xfrm>
            <a:off x="713225" y="2994063"/>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313" name="Google Shape;313;p31"/>
          <p:cNvSpPr txBox="1">
            <a:spLocks noGrp="1"/>
          </p:cNvSpPr>
          <p:nvPr>
            <p:ph type="title" idx="8"/>
          </p:nvPr>
        </p:nvSpPr>
        <p:spPr>
          <a:xfrm>
            <a:off x="3359125" y="1646112"/>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16" name="Google Shape;316;p31"/>
          <p:cNvSpPr txBox="1">
            <a:spLocks noGrp="1"/>
          </p:cNvSpPr>
          <p:nvPr>
            <p:ph type="title" idx="14"/>
          </p:nvPr>
        </p:nvSpPr>
        <p:spPr>
          <a:xfrm>
            <a:off x="5997638" y="2994063"/>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06</a:t>
            </a:r>
            <a:endParaRPr/>
          </a:p>
        </p:txBody>
      </p:sp>
      <p:sp>
        <p:nvSpPr>
          <p:cNvPr id="317" name="Google Shape;317;p31"/>
          <p:cNvSpPr txBox="1">
            <a:spLocks noGrp="1"/>
          </p:cNvSpPr>
          <p:nvPr>
            <p:ph type="title" idx="15"/>
          </p:nvPr>
        </p:nvSpPr>
        <p:spPr>
          <a:xfrm>
            <a:off x="5997638" y="1646112"/>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318" name="Google Shape;318;p31"/>
          <p:cNvSpPr txBox="1">
            <a:spLocks noGrp="1"/>
          </p:cNvSpPr>
          <p:nvPr>
            <p:ph type="subTitle" idx="16"/>
          </p:nvPr>
        </p:nvSpPr>
        <p:spPr>
          <a:xfrm>
            <a:off x="713225"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Identifikasi Masalah</a:t>
            </a:r>
            <a:endParaRPr dirty="0"/>
          </a:p>
        </p:txBody>
      </p:sp>
      <p:sp>
        <p:nvSpPr>
          <p:cNvPr id="319" name="Google Shape;319;p31"/>
          <p:cNvSpPr txBox="1">
            <a:spLocks noGrp="1"/>
          </p:cNvSpPr>
          <p:nvPr>
            <p:ph type="subTitle" idx="17"/>
          </p:nvPr>
        </p:nvSpPr>
        <p:spPr>
          <a:xfrm>
            <a:off x="713225" y="3447136"/>
            <a:ext cx="2423100" cy="63678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Perancangan Sistem</a:t>
            </a:r>
            <a:endParaRPr dirty="0"/>
          </a:p>
        </p:txBody>
      </p:sp>
      <p:sp>
        <p:nvSpPr>
          <p:cNvPr id="320" name="Google Shape;320;p31"/>
          <p:cNvSpPr txBox="1">
            <a:spLocks noGrp="1"/>
          </p:cNvSpPr>
          <p:nvPr>
            <p:ph type="subTitle" idx="18"/>
          </p:nvPr>
        </p:nvSpPr>
        <p:spPr>
          <a:xfrm>
            <a:off x="3359125" y="3447124"/>
            <a:ext cx="2423100" cy="6367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Pengujian Sistem</a:t>
            </a:r>
            <a:endParaRPr dirty="0"/>
          </a:p>
        </p:txBody>
      </p:sp>
      <p:sp>
        <p:nvSpPr>
          <p:cNvPr id="321" name="Google Shape;321;p31"/>
          <p:cNvSpPr txBox="1">
            <a:spLocks noGrp="1"/>
          </p:cNvSpPr>
          <p:nvPr>
            <p:ph type="subTitle" idx="19"/>
          </p:nvPr>
        </p:nvSpPr>
        <p:spPr>
          <a:xfrm>
            <a:off x="3359125"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Pengumpulan Data</a:t>
            </a:r>
            <a:endParaRPr dirty="0"/>
          </a:p>
        </p:txBody>
      </p:sp>
      <p:sp>
        <p:nvSpPr>
          <p:cNvPr id="322" name="Google Shape;322;p31"/>
          <p:cNvSpPr txBox="1">
            <a:spLocks noGrp="1"/>
          </p:cNvSpPr>
          <p:nvPr>
            <p:ph type="subTitle" idx="20"/>
          </p:nvPr>
        </p:nvSpPr>
        <p:spPr>
          <a:xfrm>
            <a:off x="5997638" y="3447124"/>
            <a:ext cx="2423100" cy="6367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Implementasi Sistem</a:t>
            </a:r>
            <a:endParaRPr dirty="0"/>
          </a:p>
        </p:txBody>
      </p:sp>
      <p:sp>
        <p:nvSpPr>
          <p:cNvPr id="323" name="Google Shape;323;p31"/>
          <p:cNvSpPr txBox="1">
            <a:spLocks noGrp="1"/>
          </p:cNvSpPr>
          <p:nvPr>
            <p:ph type="subTitle" idx="21"/>
          </p:nvPr>
        </p:nvSpPr>
        <p:spPr>
          <a:xfrm>
            <a:off x="5997638"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Analisis Data</a:t>
            </a:r>
            <a:endParaRPr dirty="0"/>
          </a:p>
        </p:txBody>
      </p:sp>
      <p:sp>
        <p:nvSpPr>
          <p:cNvPr id="324" name="Google Shape;324;p3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10</a:t>
            </a:r>
            <a:endParaRPr dirty="0"/>
          </a:p>
        </p:txBody>
      </p:sp>
      <p:cxnSp>
        <p:nvCxnSpPr>
          <p:cNvPr id="28" name="Google Shape;288;p29"/>
          <p:cNvCxnSpPr/>
          <p:nvPr/>
        </p:nvCxnSpPr>
        <p:spPr>
          <a:xfrm flipV="1">
            <a:off x="395536" y="2925190"/>
            <a:ext cx="8352928" cy="6600"/>
          </a:xfrm>
          <a:prstGeom prst="straightConnector1">
            <a:avLst/>
          </a:prstGeom>
          <a:noFill/>
          <a:ln w="19050" cap="flat" cmpd="sng">
            <a:solidFill>
              <a:schemeClr val="lt1"/>
            </a:solidFill>
            <a:prstDash val="solid"/>
            <a:round/>
            <a:headEnd type="oval" w="med" len="med"/>
            <a:tailEnd type="oval" w="med" len="med"/>
          </a:ln>
        </p:spPr>
      </p:cxnSp>
      <p:sp>
        <p:nvSpPr>
          <p:cNvPr id="30" name="TextBox 29"/>
          <p:cNvSpPr txBox="1"/>
          <p:nvPr/>
        </p:nvSpPr>
        <p:spPr>
          <a:xfrm>
            <a:off x="755576" y="1081068"/>
            <a:ext cx="7704856" cy="338554"/>
          </a:xfrm>
          <a:prstGeom prst="rect">
            <a:avLst/>
          </a:prstGeom>
          <a:noFill/>
        </p:spPr>
        <p:txBody>
          <a:bodyPr wrap="square" rtlCol="0">
            <a:spAutoFit/>
          </a:bodyPr>
          <a:lstStyle/>
          <a:p>
            <a:pPr lvl="0"/>
            <a:r>
              <a:rPr lang="en-US" sz="1600" dirty="0" err="1">
                <a:solidFill>
                  <a:schemeClr val="tx1"/>
                </a:solidFill>
                <a:latin typeface="Mulish" charset="0"/>
              </a:rPr>
              <a:t>A</a:t>
            </a:r>
            <a:r>
              <a:rPr lang="en-US" sz="1600" dirty="0" err="1" smtClean="0">
                <a:solidFill>
                  <a:schemeClr val="tx1"/>
                </a:solidFill>
                <a:latin typeface="Mulish" charset="0"/>
              </a:rPr>
              <a:t>lur</a:t>
            </a:r>
            <a:r>
              <a:rPr lang="en-US" sz="1600" dirty="0" smtClean="0">
                <a:solidFill>
                  <a:schemeClr val="tx1"/>
                </a:solidFill>
                <a:latin typeface="Mulish" charset="0"/>
              </a:rPr>
              <a:t> </a:t>
            </a:r>
            <a:r>
              <a:rPr lang="en-US" sz="1600" dirty="0" err="1">
                <a:solidFill>
                  <a:schemeClr val="tx1"/>
                </a:solidFill>
                <a:latin typeface="Mulish" charset="0"/>
              </a:rPr>
              <a:t>penelitian</a:t>
            </a:r>
            <a:r>
              <a:rPr lang="en-US" sz="1600" dirty="0">
                <a:solidFill>
                  <a:schemeClr val="tx1"/>
                </a:solidFill>
                <a:latin typeface="Mulish" charset="0"/>
              </a:rPr>
              <a:t> yang </a:t>
            </a:r>
            <a:r>
              <a:rPr lang="en-US" sz="1600" dirty="0" err="1">
                <a:solidFill>
                  <a:schemeClr val="tx1"/>
                </a:solidFill>
                <a:latin typeface="Mulish" charset="0"/>
              </a:rPr>
              <a:t>akan</a:t>
            </a:r>
            <a:r>
              <a:rPr lang="en-US" sz="1600" dirty="0">
                <a:solidFill>
                  <a:schemeClr val="tx1"/>
                </a:solidFill>
                <a:latin typeface="Mulish" charset="0"/>
              </a:rPr>
              <a:t> </a:t>
            </a:r>
            <a:r>
              <a:rPr lang="en-US" sz="1600" dirty="0" err="1" smtClean="0">
                <a:solidFill>
                  <a:schemeClr val="tx1"/>
                </a:solidFill>
                <a:latin typeface="Mulish" charset="0"/>
              </a:rPr>
              <a:t>dibangun</a:t>
            </a:r>
            <a:r>
              <a:rPr lang="en-US" sz="1600" dirty="0" smtClean="0">
                <a:solidFill>
                  <a:schemeClr val="tx1"/>
                </a:solidFill>
                <a:latin typeface="Mulish" charset="0"/>
              </a:rPr>
              <a:t>.</a:t>
            </a:r>
            <a:endParaRPr lang="en-US" sz="1200" dirty="0">
              <a:solidFill>
                <a:schemeClr val="tx1"/>
              </a:solidFill>
              <a:latin typeface="Mulish" charset="0"/>
            </a:endParaRPr>
          </a:p>
        </p:txBody>
      </p:sp>
    </p:spTree>
    <p:extLst>
      <p:ext uri="{BB962C8B-B14F-4D97-AF65-F5344CB8AC3E}">
        <p14:creationId xmlns:p14="http://schemas.microsoft.com/office/powerpoint/2010/main" val="41681327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Teknik Pengumpulan Data</a:t>
            </a:r>
            <a:endParaRPr dirty="0"/>
          </a:p>
        </p:txBody>
      </p:sp>
      <p:sp>
        <p:nvSpPr>
          <p:cNvPr id="310" name="Google Shape;310;p31"/>
          <p:cNvSpPr txBox="1">
            <a:spLocks noGrp="1"/>
          </p:cNvSpPr>
          <p:nvPr>
            <p:ph type="title" idx="5"/>
          </p:nvPr>
        </p:nvSpPr>
        <p:spPr>
          <a:xfrm>
            <a:off x="713225" y="1645345"/>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312" name="Google Shape;312;p31"/>
          <p:cNvSpPr txBox="1">
            <a:spLocks noGrp="1"/>
          </p:cNvSpPr>
          <p:nvPr>
            <p:ph type="title" idx="7"/>
          </p:nvPr>
        </p:nvSpPr>
        <p:spPr>
          <a:xfrm>
            <a:off x="713225" y="2994063"/>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313" name="Google Shape;313;p31"/>
          <p:cNvSpPr txBox="1">
            <a:spLocks noGrp="1"/>
          </p:cNvSpPr>
          <p:nvPr>
            <p:ph type="title" idx="8"/>
          </p:nvPr>
        </p:nvSpPr>
        <p:spPr>
          <a:xfrm>
            <a:off x="3359125" y="1646112"/>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17" name="Google Shape;317;p31"/>
          <p:cNvSpPr txBox="1">
            <a:spLocks noGrp="1"/>
          </p:cNvSpPr>
          <p:nvPr>
            <p:ph type="title" idx="15"/>
          </p:nvPr>
        </p:nvSpPr>
        <p:spPr>
          <a:xfrm>
            <a:off x="5997638" y="1646112"/>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318" name="Google Shape;318;p31"/>
          <p:cNvSpPr txBox="1">
            <a:spLocks noGrp="1"/>
          </p:cNvSpPr>
          <p:nvPr>
            <p:ph type="subTitle" idx="16"/>
          </p:nvPr>
        </p:nvSpPr>
        <p:spPr>
          <a:xfrm>
            <a:off x="713225"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Observasi</a:t>
            </a:r>
            <a:endParaRPr dirty="0"/>
          </a:p>
        </p:txBody>
      </p:sp>
      <p:sp>
        <p:nvSpPr>
          <p:cNvPr id="319" name="Google Shape;319;p31"/>
          <p:cNvSpPr txBox="1">
            <a:spLocks noGrp="1"/>
          </p:cNvSpPr>
          <p:nvPr>
            <p:ph type="subTitle" idx="17"/>
          </p:nvPr>
        </p:nvSpPr>
        <p:spPr>
          <a:xfrm>
            <a:off x="713225" y="3447136"/>
            <a:ext cx="2423100" cy="63678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Penelitian Perpustakaan</a:t>
            </a:r>
            <a:endParaRPr dirty="0"/>
          </a:p>
        </p:txBody>
      </p:sp>
      <p:sp>
        <p:nvSpPr>
          <p:cNvPr id="321" name="Google Shape;321;p31"/>
          <p:cNvSpPr txBox="1">
            <a:spLocks noGrp="1"/>
          </p:cNvSpPr>
          <p:nvPr>
            <p:ph type="subTitle" idx="19"/>
          </p:nvPr>
        </p:nvSpPr>
        <p:spPr>
          <a:xfrm>
            <a:off x="3359125"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Wawancara</a:t>
            </a:r>
            <a:endParaRPr dirty="0"/>
          </a:p>
        </p:txBody>
      </p:sp>
      <p:sp>
        <p:nvSpPr>
          <p:cNvPr id="323" name="Google Shape;323;p31"/>
          <p:cNvSpPr txBox="1">
            <a:spLocks noGrp="1"/>
          </p:cNvSpPr>
          <p:nvPr>
            <p:ph type="subTitle" idx="21"/>
          </p:nvPr>
        </p:nvSpPr>
        <p:spPr>
          <a:xfrm>
            <a:off x="5997638"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Dokumentasi</a:t>
            </a:r>
            <a:endParaRPr dirty="0"/>
          </a:p>
        </p:txBody>
      </p:sp>
      <p:sp>
        <p:nvSpPr>
          <p:cNvPr id="324" name="Google Shape;324;p3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11</a:t>
            </a:r>
            <a:endParaRPr dirty="0"/>
          </a:p>
        </p:txBody>
      </p:sp>
      <p:cxnSp>
        <p:nvCxnSpPr>
          <p:cNvPr id="28" name="Google Shape;288;p29"/>
          <p:cNvCxnSpPr/>
          <p:nvPr/>
        </p:nvCxnSpPr>
        <p:spPr>
          <a:xfrm flipV="1">
            <a:off x="395536" y="2925190"/>
            <a:ext cx="8352928" cy="6600"/>
          </a:xfrm>
          <a:prstGeom prst="straightConnector1">
            <a:avLst/>
          </a:prstGeom>
          <a:noFill/>
          <a:ln w="19050" cap="flat" cmpd="sng">
            <a:solidFill>
              <a:schemeClr val="lt1"/>
            </a:solidFill>
            <a:prstDash val="solid"/>
            <a:round/>
            <a:headEnd type="oval" w="med" len="med"/>
            <a:tailEnd type="oval" w="med" len="med"/>
          </a:ln>
        </p:spPr>
      </p:cxnSp>
    </p:spTree>
    <p:extLst>
      <p:ext uri="{BB962C8B-B14F-4D97-AF65-F5344CB8AC3E}">
        <p14:creationId xmlns:p14="http://schemas.microsoft.com/office/powerpoint/2010/main" val="31907167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Metode Pengembangan Sistem</a:t>
            </a:r>
            <a:endParaRPr dirty="0"/>
          </a:p>
        </p:txBody>
      </p:sp>
      <p:sp>
        <p:nvSpPr>
          <p:cNvPr id="310" name="Google Shape;310;p31"/>
          <p:cNvSpPr txBox="1">
            <a:spLocks noGrp="1"/>
          </p:cNvSpPr>
          <p:nvPr>
            <p:ph type="title" idx="5"/>
          </p:nvPr>
        </p:nvSpPr>
        <p:spPr>
          <a:xfrm>
            <a:off x="713225" y="1645345"/>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311" name="Google Shape;311;p31"/>
          <p:cNvSpPr txBox="1">
            <a:spLocks noGrp="1"/>
          </p:cNvSpPr>
          <p:nvPr>
            <p:ph type="title" idx="6"/>
          </p:nvPr>
        </p:nvSpPr>
        <p:spPr>
          <a:xfrm>
            <a:off x="3359125" y="2994063"/>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312" name="Google Shape;312;p31"/>
          <p:cNvSpPr txBox="1">
            <a:spLocks noGrp="1"/>
          </p:cNvSpPr>
          <p:nvPr>
            <p:ph type="title" idx="7"/>
          </p:nvPr>
        </p:nvSpPr>
        <p:spPr>
          <a:xfrm>
            <a:off x="713225" y="2994063"/>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313" name="Google Shape;313;p31"/>
          <p:cNvSpPr txBox="1">
            <a:spLocks noGrp="1"/>
          </p:cNvSpPr>
          <p:nvPr>
            <p:ph type="title" idx="8"/>
          </p:nvPr>
        </p:nvSpPr>
        <p:spPr>
          <a:xfrm>
            <a:off x="3359125" y="1646112"/>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17" name="Google Shape;317;p31"/>
          <p:cNvSpPr txBox="1">
            <a:spLocks noGrp="1"/>
          </p:cNvSpPr>
          <p:nvPr>
            <p:ph type="title" idx="15"/>
          </p:nvPr>
        </p:nvSpPr>
        <p:spPr>
          <a:xfrm>
            <a:off x="5997638" y="1646112"/>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318" name="Google Shape;318;p31"/>
          <p:cNvSpPr txBox="1">
            <a:spLocks noGrp="1"/>
          </p:cNvSpPr>
          <p:nvPr>
            <p:ph type="subTitle" idx="16"/>
          </p:nvPr>
        </p:nvSpPr>
        <p:spPr>
          <a:xfrm>
            <a:off x="713225"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Analisis Kebutuhan</a:t>
            </a:r>
            <a:endParaRPr dirty="0"/>
          </a:p>
        </p:txBody>
      </p:sp>
      <p:sp>
        <p:nvSpPr>
          <p:cNvPr id="319" name="Google Shape;319;p31"/>
          <p:cNvSpPr txBox="1">
            <a:spLocks noGrp="1"/>
          </p:cNvSpPr>
          <p:nvPr>
            <p:ph type="subTitle" idx="17"/>
          </p:nvPr>
        </p:nvSpPr>
        <p:spPr>
          <a:xfrm>
            <a:off x="713225" y="3447136"/>
            <a:ext cx="2423100" cy="63678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Pengujian Sistem</a:t>
            </a:r>
            <a:endParaRPr dirty="0"/>
          </a:p>
        </p:txBody>
      </p:sp>
      <p:sp>
        <p:nvSpPr>
          <p:cNvPr id="320" name="Google Shape;320;p31"/>
          <p:cNvSpPr txBox="1">
            <a:spLocks noGrp="1"/>
          </p:cNvSpPr>
          <p:nvPr>
            <p:ph type="subTitle" idx="18"/>
          </p:nvPr>
        </p:nvSpPr>
        <p:spPr>
          <a:xfrm>
            <a:off x="3359125" y="3447124"/>
            <a:ext cx="2423100" cy="6367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Perawatan Sistem</a:t>
            </a:r>
            <a:endParaRPr dirty="0"/>
          </a:p>
        </p:txBody>
      </p:sp>
      <p:sp>
        <p:nvSpPr>
          <p:cNvPr id="321" name="Google Shape;321;p31"/>
          <p:cNvSpPr txBox="1">
            <a:spLocks noGrp="1"/>
          </p:cNvSpPr>
          <p:nvPr>
            <p:ph type="subTitle" idx="19"/>
          </p:nvPr>
        </p:nvSpPr>
        <p:spPr>
          <a:xfrm>
            <a:off x="3359125"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Desain Sistem</a:t>
            </a:r>
            <a:endParaRPr dirty="0"/>
          </a:p>
        </p:txBody>
      </p:sp>
      <p:sp>
        <p:nvSpPr>
          <p:cNvPr id="323" name="Google Shape;323;p31"/>
          <p:cNvSpPr txBox="1">
            <a:spLocks noGrp="1"/>
          </p:cNvSpPr>
          <p:nvPr>
            <p:ph type="subTitle" idx="21"/>
          </p:nvPr>
        </p:nvSpPr>
        <p:spPr>
          <a:xfrm>
            <a:off x="5997638" y="2098631"/>
            <a:ext cx="2423100" cy="61713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Implementasi Sistem</a:t>
            </a:r>
            <a:endParaRPr dirty="0"/>
          </a:p>
        </p:txBody>
      </p:sp>
      <p:sp>
        <p:nvSpPr>
          <p:cNvPr id="324" name="Google Shape;324;p3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12</a:t>
            </a:r>
            <a:endParaRPr dirty="0"/>
          </a:p>
        </p:txBody>
      </p:sp>
      <p:cxnSp>
        <p:nvCxnSpPr>
          <p:cNvPr id="28" name="Google Shape;288;p29"/>
          <p:cNvCxnSpPr/>
          <p:nvPr/>
        </p:nvCxnSpPr>
        <p:spPr>
          <a:xfrm flipV="1">
            <a:off x="395536" y="2925190"/>
            <a:ext cx="8352928" cy="6600"/>
          </a:xfrm>
          <a:prstGeom prst="straightConnector1">
            <a:avLst/>
          </a:prstGeom>
          <a:noFill/>
          <a:ln w="19050" cap="flat" cmpd="sng">
            <a:solidFill>
              <a:schemeClr val="lt1"/>
            </a:solidFill>
            <a:prstDash val="solid"/>
            <a:round/>
            <a:headEnd type="oval" w="med" len="med"/>
            <a:tailEnd type="oval" w="med" len="med"/>
          </a:ln>
        </p:spPr>
      </p:cxnSp>
      <p:sp>
        <p:nvSpPr>
          <p:cNvPr id="30" name="TextBox 29"/>
          <p:cNvSpPr txBox="1"/>
          <p:nvPr/>
        </p:nvSpPr>
        <p:spPr>
          <a:xfrm>
            <a:off x="755576" y="1081068"/>
            <a:ext cx="7704856" cy="338554"/>
          </a:xfrm>
          <a:prstGeom prst="rect">
            <a:avLst/>
          </a:prstGeom>
          <a:noFill/>
        </p:spPr>
        <p:txBody>
          <a:bodyPr wrap="square" rtlCol="0">
            <a:spAutoFit/>
          </a:bodyPr>
          <a:lstStyle/>
          <a:p>
            <a:pPr lvl="0"/>
            <a:r>
              <a:rPr lang="en-US" sz="1600" dirty="0" err="1" smtClean="0">
                <a:solidFill>
                  <a:schemeClr val="tx1"/>
                </a:solidFill>
                <a:latin typeface="Mulish" charset="0"/>
              </a:rPr>
              <a:t>Menggunakan</a:t>
            </a:r>
            <a:r>
              <a:rPr lang="en-US" sz="1600" dirty="0" smtClean="0">
                <a:solidFill>
                  <a:schemeClr val="tx1"/>
                </a:solidFill>
                <a:latin typeface="Mulish" charset="0"/>
              </a:rPr>
              <a:t> SDLC Model Waterfall.</a:t>
            </a:r>
            <a:endParaRPr lang="en-US" sz="1200" dirty="0">
              <a:solidFill>
                <a:schemeClr val="tx1"/>
              </a:solidFill>
              <a:latin typeface="Mulish" charset="0"/>
            </a:endParaRPr>
          </a:p>
        </p:txBody>
      </p:sp>
    </p:spTree>
    <p:extLst>
      <p:ext uri="{BB962C8B-B14F-4D97-AF65-F5344CB8AC3E}">
        <p14:creationId xmlns:p14="http://schemas.microsoft.com/office/powerpoint/2010/main" val="28294540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4"/>
          <p:cNvSpPr txBox="1">
            <a:spLocks noGrp="1"/>
          </p:cNvSpPr>
          <p:nvPr>
            <p:ph type="subTitle" idx="1"/>
          </p:nvPr>
        </p:nvSpPr>
        <p:spPr>
          <a:xfrm>
            <a:off x="969900" y="1312625"/>
            <a:ext cx="7204200" cy="147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smtClean="0"/>
              <a:t>“Sekian”</a:t>
            </a:r>
            <a:endParaRPr b="1" dirty="0"/>
          </a:p>
        </p:txBody>
      </p:sp>
      <p:sp>
        <p:nvSpPr>
          <p:cNvPr id="354" name="Google Shape;354;p34"/>
          <p:cNvSpPr txBox="1">
            <a:spLocks noGrp="1"/>
          </p:cNvSpPr>
          <p:nvPr>
            <p:ph type="title"/>
          </p:nvPr>
        </p:nvSpPr>
        <p:spPr>
          <a:xfrm>
            <a:off x="969900" y="3387600"/>
            <a:ext cx="7204200" cy="5319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Terima Kasih</a:t>
            </a:r>
            <a:endParaRPr dirty="0"/>
          </a:p>
        </p:txBody>
      </p:sp>
      <p:sp>
        <p:nvSpPr>
          <p:cNvPr id="355" name="Google Shape;355;p3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mtClean="0"/>
              <a:t>13</a:t>
            </a:r>
            <a:endParaRPr dirty="0"/>
          </a:p>
        </p:txBody>
      </p:sp>
      <p:cxnSp>
        <p:nvCxnSpPr>
          <p:cNvPr id="356" name="Google Shape;356;p34"/>
          <p:cNvCxnSpPr/>
          <p:nvPr/>
        </p:nvCxnSpPr>
        <p:spPr>
          <a:xfrm rot="10800000" flipH="1">
            <a:off x="2553150" y="3923150"/>
            <a:ext cx="4037700" cy="6600"/>
          </a:xfrm>
          <a:prstGeom prst="straightConnector1">
            <a:avLst/>
          </a:prstGeom>
          <a:noFill/>
          <a:ln w="19050" cap="flat" cmpd="sng">
            <a:solidFill>
              <a:schemeClr val="lt1"/>
            </a:solidFill>
            <a:prstDash val="solid"/>
            <a:round/>
            <a:headEnd type="oval" w="med" len="med"/>
            <a:tailEnd type="oval" w="med" len="med"/>
          </a:ln>
        </p:spPr>
      </p:cxnSp>
      <p:cxnSp>
        <p:nvCxnSpPr>
          <p:cNvPr id="357" name="Google Shape;357;p34"/>
          <p:cNvCxnSpPr/>
          <p:nvPr/>
        </p:nvCxnSpPr>
        <p:spPr>
          <a:xfrm rot="10800000" flipH="1">
            <a:off x="2553150" y="3325025"/>
            <a:ext cx="4037700" cy="6600"/>
          </a:xfrm>
          <a:prstGeom prst="straightConnector1">
            <a:avLst/>
          </a:prstGeom>
          <a:noFill/>
          <a:ln w="19050" cap="flat" cmpd="sng">
            <a:solidFill>
              <a:schemeClr val="lt1"/>
            </a:solidFill>
            <a:prstDash val="solid"/>
            <a:round/>
            <a:headEnd type="oval" w="med" len="med"/>
            <a:tailEnd type="oval" w="med" len="med"/>
          </a:ln>
        </p:spPr>
      </p:cxnSp>
    </p:spTree>
    <p:extLst>
      <p:ext uri="{BB962C8B-B14F-4D97-AF65-F5344CB8AC3E}">
        <p14:creationId xmlns:p14="http://schemas.microsoft.com/office/powerpoint/2010/main" val="1406378691"/>
      </p:ext>
    </p:extLst>
  </p:cSld>
  <p:clrMapOvr>
    <a:masterClrMapping/>
  </p:clrMapOvr>
  <p:timing>
    <p:tnLst>
      <p:par>
        <p:cTn id="1" dur="indefinite" restart="never" nodeType="tmRoot"/>
      </p:par>
    </p:tnLst>
  </p:timing>
</p:sld>
</file>

<file path=ppt/theme/theme1.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669</Words>
  <Application>Microsoft Office PowerPoint</Application>
  <PresentationFormat>On-screen Show (16:9)</PresentationFormat>
  <Paragraphs>106</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Nunito Light</vt:lpstr>
      <vt:lpstr>IBM Plex Sans</vt:lpstr>
      <vt:lpstr>Quicksand</vt:lpstr>
      <vt:lpstr>Times New Roman</vt:lpstr>
      <vt:lpstr>Bebas Neue</vt:lpstr>
      <vt:lpstr>Mulish</vt:lpstr>
      <vt:lpstr>Elegant Bachelor Thesis by Slidesgo</vt:lpstr>
      <vt:lpstr>Sistem Informasi Rekam Medis Elektronik Berbasis Client Server Pada Puskesmas Siulak Mukai</vt:lpstr>
      <vt:lpstr>BAB</vt:lpstr>
      <vt:lpstr>Latar Belakang Masalah</vt:lpstr>
      <vt:lpstr>Identifikasi Masalah</vt:lpstr>
      <vt:lpstr>Rumusan Masalah</vt:lpstr>
      <vt:lpstr>BAB</vt:lpstr>
      <vt:lpstr>Studi sebelumnya terkait TA</vt:lpstr>
      <vt:lpstr>Studi sebelumnya terkait TA</vt:lpstr>
      <vt:lpstr>Studi sebelumnya terkait TA</vt:lpstr>
      <vt:lpstr>BAB</vt:lpstr>
      <vt:lpstr>Kerangka Penelitian</vt:lpstr>
      <vt:lpstr>Teknik Pengumpulan Data</vt:lpstr>
      <vt:lpstr>Metode Pengembangan Sistem</vt:lpstr>
      <vt:lpstr>Terima Kasih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Informasi Rekam Medis Elektronik Berbasis Client Server Pada Puskesmas Siulak Mukai</dc:title>
  <cp:lastModifiedBy>Stenly Andika</cp:lastModifiedBy>
  <cp:revision>14</cp:revision>
  <dcterms:modified xsi:type="dcterms:W3CDTF">2024-06-22T03:01:58Z</dcterms:modified>
</cp:coreProperties>
</file>